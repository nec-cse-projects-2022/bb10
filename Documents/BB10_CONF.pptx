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6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3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2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1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9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2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4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3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4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7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516D7-1BE4-42FF-915C-DF82BCB40BA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6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617" y="-275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2025 6</a:t>
            </a:r>
            <a:r>
              <a:rPr lang="en-US" sz="40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GLOBAL CONFERENCE FOR ADVANCEMENT IN TECHNOLOGY</a:t>
            </a:r>
            <a:b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(GCAT 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68859"/>
            <a:ext cx="9144000" cy="4189142"/>
          </a:xfrm>
        </p:spPr>
        <p:txBody>
          <a:bodyPr>
            <a:normAutofit/>
          </a:bodyPr>
          <a:lstStyle/>
          <a:p>
            <a:r>
              <a:rPr lang="en-US" sz="2800" b="1" dirty="0"/>
              <a:t>Smart Apparel Narrator: Deep Learning-Based Captioning for Images and Videos</a:t>
            </a:r>
          </a:p>
          <a:p>
            <a:r>
              <a:rPr lang="en-GB" b="1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ID: 3709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Kanumuri Narendra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 (Autonomous),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</a:t>
            </a:r>
            <a:endParaRPr lang="en-GB" b="1" spc="-1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GB" dirty="0"/>
            </a:br>
            <a:endParaRPr lang="en-GB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9" y="281258"/>
            <a:ext cx="1637211" cy="8682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572125"/>
            <a:ext cx="35528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4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EF4B-DA4D-242D-E966-FBBA94ED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dirty="0"/>
              <a:t>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B12EC-B1DD-8307-4DD9-F7994A935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 Survey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Framework</a:t>
            </a: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Architecture-</a:t>
            </a: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</a:t>
            </a: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514350" indent="-514350">
              <a:buAutoNum type="arabicPeriod" startAt="5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endParaRPr lang="en-IN" dirty="0"/>
          </a:p>
          <a:p>
            <a:pPr marL="514350" indent="-514350">
              <a:buAutoNum type="arabicPeriod" startAt="5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262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350B-D3B4-ECF0-91CD-9EF66A92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dirty="0"/>
              <a:t>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1CBB-1446-AE8A-B9FE-7FE4488AB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70" y="1763486"/>
            <a:ext cx="6848670" cy="441347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Fashion AI Importance:</a:t>
            </a:r>
            <a:endParaRPr lang="en-IN" dirty="0"/>
          </a:p>
          <a:p>
            <a:r>
              <a:rPr lang="en-IN" dirty="0"/>
              <a:t>Key for e-commerce tagging, recommendations, and assistive narration.</a:t>
            </a:r>
          </a:p>
          <a:p>
            <a:r>
              <a:rPr lang="en-IN" dirty="0"/>
              <a:t>Helps systems understand texture, </a:t>
            </a:r>
            <a:r>
              <a:rPr lang="en-IN" dirty="0" err="1"/>
              <a:t>color</a:t>
            </a:r>
            <a:r>
              <a:rPr lang="en-IN" dirty="0"/>
              <a:t>, and design in apparel.</a:t>
            </a:r>
          </a:p>
          <a:p>
            <a:pPr marL="0" indent="0">
              <a:buNone/>
            </a:pPr>
            <a:r>
              <a:rPr lang="en-IN" b="1" dirty="0"/>
              <a:t>Challenges:</a:t>
            </a:r>
            <a:endParaRPr lang="en-IN" dirty="0"/>
          </a:p>
          <a:p>
            <a:r>
              <a:rPr lang="en-IN" dirty="0"/>
              <a:t>Generic models miss fine fashion details.</a:t>
            </a:r>
          </a:p>
          <a:p>
            <a:r>
              <a:rPr lang="en-IN" dirty="0"/>
              <a:t>Limited domain datasets and weak video context handling.</a:t>
            </a:r>
          </a:p>
          <a:p>
            <a:pPr marL="0" indent="0">
              <a:buNone/>
            </a:pPr>
            <a:r>
              <a:rPr lang="en-IN" b="1" dirty="0"/>
              <a:t>Motivation:</a:t>
            </a:r>
            <a:endParaRPr lang="en-IN" dirty="0"/>
          </a:p>
          <a:p>
            <a:r>
              <a:rPr lang="en-IN" dirty="0"/>
              <a:t>Build a fashion-aware captioning system combining </a:t>
            </a:r>
            <a:r>
              <a:rPr lang="en-IN" b="1" dirty="0" err="1"/>
              <a:t>ConvNeXt</a:t>
            </a:r>
            <a:r>
              <a:rPr lang="en-IN" b="1" dirty="0"/>
              <a:t> + LSTM</a:t>
            </a:r>
            <a:r>
              <a:rPr lang="en-IN" dirty="0"/>
              <a:t>.</a:t>
            </a:r>
          </a:p>
          <a:p>
            <a:r>
              <a:rPr lang="en-IN" dirty="0"/>
              <a:t>Bridge vision and fashion understanding.</a:t>
            </a:r>
          </a:p>
          <a:p>
            <a:pPr marL="0" indent="0">
              <a:buNone/>
            </a:pPr>
            <a:r>
              <a:rPr lang="en-IN" b="1" dirty="0"/>
              <a:t>Goal:</a:t>
            </a:r>
            <a:endParaRPr lang="en-IN" dirty="0"/>
          </a:p>
          <a:p>
            <a:r>
              <a:rPr lang="en-IN" dirty="0"/>
              <a:t>Generate accurate apparel captions for images and videos with high BLEU performance.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hy We Need to Phase Plastic Out of Fashion">
            <a:extLst>
              <a:ext uri="{FF2B5EF4-FFF2-40B4-BE49-F238E27FC236}">
                <a16:creationId xmlns:a16="http://schemas.microsoft.com/office/drawing/2014/main" id="{0D7CDA14-1BBA-EE83-2FF6-E1C96F68A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329" y="2048069"/>
            <a:ext cx="4876801" cy="325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68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D5C3-0934-85AF-8C13-765273DAC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5AA14-FC1A-A9A0-A36A-9EA6F39F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Main Aim:</a:t>
            </a:r>
            <a:br>
              <a:rPr lang="en-US" sz="2000" dirty="0"/>
            </a:br>
            <a:r>
              <a:rPr lang="en-US" sz="2000" dirty="0"/>
              <a:t>To develop a </a:t>
            </a:r>
            <a:r>
              <a:rPr lang="en-US" sz="2000" b="1" dirty="0"/>
              <a:t>deep learning-based apparel captioning model</a:t>
            </a:r>
            <a:r>
              <a:rPr lang="en-US" sz="2000" dirty="0"/>
              <a:t> that integrates </a:t>
            </a:r>
            <a:r>
              <a:rPr lang="en-US" sz="2000" b="1" dirty="0" err="1"/>
              <a:t>ConvNeXt</a:t>
            </a:r>
            <a:r>
              <a:rPr lang="en-US" sz="2000" b="1" dirty="0"/>
              <a:t> encoder</a:t>
            </a:r>
            <a:r>
              <a:rPr lang="en-US" sz="2000" dirty="0"/>
              <a:t> with an </a:t>
            </a:r>
            <a:r>
              <a:rPr lang="en-US" sz="2000" b="1" dirty="0"/>
              <a:t>LSTM decoder</a:t>
            </a:r>
            <a:r>
              <a:rPr lang="en-US" sz="2000" dirty="0"/>
              <a:t> for generating meaningful captions for fashion images and videos.</a:t>
            </a:r>
          </a:p>
          <a:p>
            <a:pPr marL="0" indent="0">
              <a:buNone/>
            </a:pPr>
            <a:r>
              <a:rPr lang="en-US" sz="2400" b="1" dirty="0"/>
              <a:t>Specific Objectives:</a:t>
            </a:r>
            <a:endParaRPr lang="en-US" sz="2400" dirty="0"/>
          </a:p>
          <a:p>
            <a:r>
              <a:rPr lang="en-US" sz="2000" dirty="0"/>
              <a:t>Combine </a:t>
            </a:r>
            <a:r>
              <a:rPr lang="en-US" sz="2000" b="1" dirty="0" err="1"/>
              <a:t>ConvNeXt</a:t>
            </a:r>
            <a:r>
              <a:rPr lang="en-US" sz="2000" dirty="0"/>
              <a:t> for rich visual feature extraction with </a:t>
            </a:r>
            <a:r>
              <a:rPr lang="en-US" sz="2000" b="1" dirty="0"/>
              <a:t>LSTM</a:t>
            </a:r>
            <a:r>
              <a:rPr lang="en-US" sz="2000" dirty="0"/>
              <a:t> for sequential text generation.</a:t>
            </a:r>
          </a:p>
          <a:p>
            <a:r>
              <a:rPr lang="en-US" sz="2000" dirty="0"/>
              <a:t>Create a </a:t>
            </a:r>
            <a:r>
              <a:rPr lang="en-US" sz="2000" b="1" dirty="0"/>
              <a:t>fashion-specific dataset</a:t>
            </a:r>
            <a:r>
              <a:rPr lang="en-US" sz="2000" dirty="0"/>
              <a:t> ensuring accurate apparel representation.</a:t>
            </a:r>
          </a:p>
          <a:p>
            <a:r>
              <a:rPr lang="en-US" sz="2000" dirty="0"/>
              <a:t>Implement </a:t>
            </a:r>
            <a:r>
              <a:rPr lang="en-US" sz="2000" b="1" dirty="0"/>
              <a:t>frame-level feature matching</a:t>
            </a:r>
            <a:r>
              <a:rPr lang="en-US" sz="2000" dirty="0"/>
              <a:t> for smooth video captioning.</a:t>
            </a:r>
          </a:p>
          <a:p>
            <a:r>
              <a:rPr lang="en-US" sz="2000" dirty="0"/>
              <a:t>Evaluate model performance using </a:t>
            </a:r>
            <a:r>
              <a:rPr lang="en-US" sz="2000" b="1" dirty="0"/>
              <a:t>BLEU-1 to BLEU-4</a:t>
            </a:r>
            <a:r>
              <a:rPr lang="en-US" sz="2000" dirty="0"/>
              <a:t> metrics.</a:t>
            </a:r>
          </a:p>
          <a:p>
            <a:r>
              <a:rPr lang="en-US" sz="2000" dirty="0"/>
              <a:t>Ensure the model is </a:t>
            </a:r>
            <a:r>
              <a:rPr lang="en-US" sz="2000" b="1" dirty="0"/>
              <a:t>efficient and scalable</a:t>
            </a:r>
            <a:r>
              <a:rPr lang="en-US" sz="2000" dirty="0"/>
              <a:t> for real-world fashion applications.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5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DDBB-B0C3-818E-BF80-8DCE5D0E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2596F-EEFF-F7BA-EB33-0C9A788C5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Existing Research:</a:t>
            </a:r>
            <a:endParaRPr lang="en-IN" sz="2000" dirty="0"/>
          </a:p>
          <a:p>
            <a:r>
              <a:rPr lang="en-IN" sz="1900" b="1" dirty="0"/>
              <a:t>Fashion-MNIST (Zalando)</a:t>
            </a:r>
            <a:r>
              <a:rPr lang="en-IN" sz="1900" dirty="0"/>
              <a:t> → Benchmark for clothing classification; limited visual complexity.</a:t>
            </a:r>
          </a:p>
          <a:p>
            <a:r>
              <a:rPr lang="en-IN" sz="1900" b="1" dirty="0" err="1"/>
              <a:t>DeepFashion</a:t>
            </a:r>
            <a:r>
              <a:rPr lang="en-IN" sz="1900" b="1" dirty="0"/>
              <a:t> (Liu et al.)</a:t>
            </a:r>
            <a:r>
              <a:rPr lang="en-IN" sz="1900" dirty="0"/>
              <a:t> → 800K </a:t>
            </a:r>
            <a:r>
              <a:rPr lang="en-IN" sz="1900" dirty="0" err="1"/>
              <a:t>labeled</a:t>
            </a:r>
            <a:r>
              <a:rPr lang="en-IN" sz="1900" dirty="0"/>
              <a:t> images; lacks detailed textual captions.</a:t>
            </a:r>
          </a:p>
          <a:p>
            <a:r>
              <a:rPr lang="en-IN" sz="1900" b="1" dirty="0"/>
              <a:t>Show &amp; Tell (</a:t>
            </a:r>
            <a:r>
              <a:rPr lang="en-IN" sz="1900" b="1" dirty="0" err="1"/>
              <a:t>Vinyals</a:t>
            </a:r>
            <a:r>
              <a:rPr lang="en-IN" sz="1900" b="1" dirty="0"/>
              <a:t> et al.)</a:t>
            </a:r>
            <a:r>
              <a:rPr lang="en-IN" sz="1900" dirty="0"/>
              <a:t> → CNN–LSTM model for image captioning; not fashion-focused.</a:t>
            </a:r>
          </a:p>
          <a:p>
            <a:r>
              <a:rPr lang="en-IN" sz="1900" b="1" dirty="0"/>
              <a:t>Attention Model (Xu et al.)</a:t>
            </a:r>
            <a:r>
              <a:rPr lang="en-IN" sz="1900" dirty="0"/>
              <a:t> → Improved focus on key regions; computationally expensive.</a:t>
            </a:r>
          </a:p>
          <a:p>
            <a:r>
              <a:rPr lang="en-IN" sz="1900" b="1" dirty="0"/>
              <a:t>Transformer-based Captioning (Tan et al.)</a:t>
            </a:r>
            <a:r>
              <a:rPr lang="en-IN" sz="1900" dirty="0"/>
              <a:t> → Strong context understanding; requires large datasets.</a:t>
            </a:r>
          </a:p>
          <a:p>
            <a:pPr marL="0" indent="0">
              <a:buNone/>
            </a:pPr>
            <a:r>
              <a:rPr lang="en-IN" sz="2000" b="1" dirty="0"/>
              <a:t>Gap Identified:</a:t>
            </a:r>
            <a:br>
              <a:rPr lang="en-IN" dirty="0"/>
            </a:br>
            <a:r>
              <a:rPr lang="en-IN" sz="1900" dirty="0"/>
              <a:t>Need for a </a:t>
            </a:r>
            <a:r>
              <a:rPr lang="en-IN" sz="1900" b="1" dirty="0"/>
              <a:t>fashion-specific, lightweight captioning model</a:t>
            </a:r>
            <a:r>
              <a:rPr lang="en-IN" sz="1900" dirty="0"/>
              <a:t> that:</a:t>
            </a:r>
          </a:p>
          <a:p>
            <a:r>
              <a:rPr lang="en-IN" sz="1900" dirty="0"/>
              <a:t>Captures </a:t>
            </a:r>
            <a:r>
              <a:rPr lang="en-IN" sz="1900" b="1" dirty="0"/>
              <a:t>fine-grained apparel features</a:t>
            </a:r>
            <a:r>
              <a:rPr lang="en-IN" sz="1900" dirty="0"/>
              <a:t>,</a:t>
            </a:r>
          </a:p>
          <a:p>
            <a:r>
              <a:rPr lang="en-IN" sz="1900" dirty="0"/>
              <a:t>Maintains </a:t>
            </a:r>
            <a:r>
              <a:rPr lang="en-IN" sz="1900" b="1" dirty="0"/>
              <a:t>context across frames</a:t>
            </a:r>
            <a:r>
              <a:rPr lang="en-IN" sz="1900" dirty="0"/>
              <a:t> in videos, and</a:t>
            </a:r>
          </a:p>
          <a:p>
            <a:r>
              <a:rPr lang="en-IN" sz="1900" dirty="0"/>
              <a:t>Ensures </a:t>
            </a:r>
            <a:r>
              <a:rPr lang="en-IN" sz="1900" b="1" dirty="0"/>
              <a:t>high accuracy and efficiency</a:t>
            </a:r>
            <a:r>
              <a:rPr lang="en-IN" sz="1900" dirty="0"/>
              <a:t> for real-world fashion applications.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69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247A-D28B-0E5A-1488-E0F6F8F6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10" y="-158619"/>
            <a:ext cx="11045890" cy="122231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8ACDE-3392-ADB5-834A-BADB81A96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10" y="699796"/>
            <a:ext cx="11884089" cy="68393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Model Name:</a:t>
            </a:r>
            <a:br>
              <a:rPr lang="en-IN" sz="1800" dirty="0"/>
            </a:br>
            <a:r>
              <a:rPr lang="en-IN" sz="1800" b="1" dirty="0"/>
              <a:t>Smart Apparel Narrator</a:t>
            </a:r>
            <a:r>
              <a:rPr lang="en-IN" sz="1800" dirty="0"/>
              <a:t> – A hybrid of </a:t>
            </a:r>
            <a:r>
              <a:rPr lang="en-IN" sz="1800" b="1" dirty="0" err="1"/>
              <a:t>ConvNeXt</a:t>
            </a:r>
            <a:r>
              <a:rPr lang="en-IN" sz="1800" b="1" dirty="0"/>
              <a:t> encoder</a:t>
            </a:r>
            <a:r>
              <a:rPr lang="en-IN" sz="1800" dirty="0"/>
              <a:t> + </a:t>
            </a:r>
            <a:r>
              <a:rPr lang="en-IN" sz="1800" b="1" dirty="0"/>
              <a:t>LSTM decoder</a:t>
            </a:r>
            <a:r>
              <a:rPr lang="en-IN" sz="1800" dirty="0"/>
              <a:t> for apparel image and video captioning.</a:t>
            </a:r>
          </a:p>
          <a:p>
            <a:pPr marL="0" indent="0">
              <a:buNone/>
            </a:pPr>
            <a:r>
              <a:rPr lang="en-IN" sz="1800" b="1" dirty="0"/>
              <a:t>Pipeline Overview:</a:t>
            </a:r>
            <a:br>
              <a:rPr lang="en-IN" sz="1800" dirty="0"/>
            </a:br>
            <a:r>
              <a:rPr lang="en-IN" sz="1800" b="1" dirty="0"/>
              <a:t>Input:</a:t>
            </a:r>
            <a:r>
              <a:rPr lang="en-IN" sz="1800" dirty="0"/>
              <a:t> Apparel images or video frames from the Fashion Product Images (Kaggle) dataset.</a:t>
            </a:r>
          </a:p>
          <a:p>
            <a:pPr marL="0" indent="0">
              <a:buNone/>
            </a:pPr>
            <a:r>
              <a:rPr lang="en-IN" sz="1800" b="1" dirty="0"/>
              <a:t>Preprocessing:</a:t>
            </a:r>
            <a:endParaRPr lang="en-IN" sz="1800" dirty="0"/>
          </a:p>
          <a:p>
            <a:r>
              <a:rPr lang="en-IN" sz="1800" dirty="0"/>
              <a:t>Resize images → 299×299 pixels</a:t>
            </a:r>
          </a:p>
          <a:p>
            <a:r>
              <a:rPr lang="en-IN" sz="1800" dirty="0"/>
              <a:t>Normalize using ImageNet statistics</a:t>
            </a:r>
          </a:p>
          <a:p>
            <a:r>
              <a:rPr lang="en-IN" sz="1800" dirty="0"/>
              <a:t>Clean and tokenize captions with </a:t>
            </a:r>
            <a:r>
              <a:rPr lang="en-IN" sz="1800" i="1" dirty="0" err="1"/>
              <a:t>startseq</a:t>
            </a:r>
            <a:r>
              <a:rPr lang="en-IN" sz="1800" dirty="0"/>
              <a:t> and </a:t>
            </a:r>
            <a:r>
              <a:rPr lang="en-IN" sz="1800" i="1" dirty="0" err="1"/>
              <a:t>endseq</a:t>
            </a:r>
            <a:r>
              <a:rPr lang="en-IN" sz="1800" dirty="0"/>
              <a:t> markers</a:t>
            </a:r>
          </a:p>
          <a:p>
            <a:pPr marL="0" indent="0">
              <a:buNone/>
            </a:pPr>
            <a:r>
              <a:rPr lang="en-IN" sz="1800" b="1" dirty="0"/>
              <a:t>Feature Extraction:</a:t>
            </a:r>
            <a:endParaRPr lang="en-IN" sz="1800" dirty="0"/>
          </a:p>
          <a:p>
            <a:r>
              <a:rPr lang="en-IN" sz="1800" dirty="0"/>
              <a:t>Deep apparel features extracted using </a:t>
            </a:r>
            <a:r>
              <a:rPr lang="en-IN" sz="1800" b="1" dirty="0" err="1"/>
              <a:t>ConvNeXt</a:t>
            </a:r>
            <a:r>
              <a:rPr lang="en-IN" sz="1800" b="1" dirty="0"/>
              <a:t>-Large</a:t>
            </a:r>
            <a:r>
              <a:rPr lang="en-IN" sz="1800" dirty="0"/>
              <a:t> encoder</a:t>
            </a:r>
          </a:p>
          <a:p>
            <a:r>
              <a:rPr lang="en-IN" sz="1800" dirty="0"/>
              <a:t>Generates 2048-dimensional feature vectors representing apparel details</a:t>
            </a:r>
          </a:p>
          <a:p>
            <a:pPr marL="0" indent="0">
              <a:buNone/>
            </a:pPr>
            <a:r>
              <a:rPr lang="en-IN" sz="1800" b="1" dirty="0"/>
              <a:t>Caption Generation:</a:t>
            </a:r>
            <a:endParaRPr lang="en-IN" sz="1800" dirty="0"/>
          </a:p>
          <a:p>
            <a:r>
              <a:rPr lang="en-IN" sz="1800" b="1" dirty="0"/>
              <a:t>LSTM decoder</a:t>
            </a:r>
            <a:r>
              <a:rPr lang="en-IN" sz="1800" dirty="0"/>
              <a:t> processes visual features and generates sequential captions</a:t>
            </a:r>
          </a:p>
          <a:p>
            <a:r>
              <a:rPr lang="en-IN" sz="1800" dirty="0"/>
              <a:t>Uses </a:t>
            </a:r>
            <a:r>
              <a:rPr lang="en-IN" sz="1800" b="1" dirty="0" err="1"/>
              <a:t>softmax</a:t>
            </a:r>
            <a:r>
              <a:rPr lang="en-IN" sz="1800" b="1" dirty="0"/>
              <a:t> layer</a:t>
            </a:r>
            <a:r>
              <a:rPr lang="en-IN" sz="1800" dirty="0"/>
              <a:t> for next-word prediction until </a:t>
            </a:r>
            <a:r>
              <a:rPr lang="en-IN" sz="1800" i="1" dirty="0" err="1"/>
              <a:t>endseq</a:t>
            </a: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Output:</a:t>
            </a:r>
            <a:endParaRPr lang="en-IN" sz="1800" dirty="0"/>
          </a:p>
          <a:p>
            <a:r>
              <a:rPr lang="en-IN" sz="1800" dirty="0"/>
              <a:t>Context-aware caption describing apparel </a:t>
            </a:r>
            <a:r>
              <a:rPr lang="en-IN" sz="1800" b="1" dirty="0"/>
              <a:t>type, </a:t>
            </a:r>
            <a:r>
              <a:rPr lang="en-IN" sz="1800" b="1" dirty="0" err="1"/>
              <a:t>color</a:t>
            </a:r>
            <a:r>
              <a:rPr lang="en-IN" sz="1800" b="1" dirty="0"/>
              <a:t>, and design</a:t>
            </a:r>
            <a:endParaRPr lang="en-IN" sz="1800" dirty="0"/>
          </a:p>
          <a:p>
            <a:r>
              <a:rPr lang="en-IN" sz="1800" dirty="0"/>
              <a:t>Extensible for </a:t>
            </a:r>
            <a:r>
              <a:rPr lang="en-IN" sz="1800" b="1" dirty="0"/>
              <a:t>video narration</a:t>
            </a:r>
            <a:r>
              <a:rPr lang="en-IN" sz="1800" dirty="0"/>
              <a:t> using frame-level feature alignment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062F7B-C151-2BF0-B101-59C97B9CB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449" y="2351314"/>
            <a:ext cx="3920351" cy="345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7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92C5-5C98-8E5B-62F8-B2ED5D65D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12" y="-373223"/>
            <a:ext cx="11167188" cy="206391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3B46D-0EDC-8F95-8F33-6E40AF440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5" y="1054360"/>
            <a:ext cx="11457993" cy="57383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Architecture Overview:</a:t>
            </a:r>
            <a:endParaRPr lang="en-IN" sz="2000" dirty="0"/>
          </a:p>
          <a:p>
            <a:pPr marL="0" indent="0">
              <a:buNone/>
            </a:pPr>
            <a:r>
              <a:rPr lang="en-IN" sz="1800" b="1" dirty="0"/>
              <a:t>Encoder:</a:t>
            </a:r>
            <a:endParaRPr lang="en-IN" sz="1800" dirty="0"/>
          </a:p>
          <a:p>
            <a:r>
              <a:rPr lang="en-IN" sz="1800" dirty="0"/>
              <a:t>Based on </a:t>
            </a:r>
            <a:r>
              <a:rPr lang="en-IN" sz="1800" dirty="0" err="1"/>
              <a:t>ConvNeXt</a:t>
            </a:r>
            <a:r>
              <a:rPr lang="en-IN" sz="1800" dirty="0"/>
              <a:t>-Large, pretrained on ImageNet.</a:t>
            </a:r>
          </a:p>
          <a:p>
            <a:r>
              <a:rPr lang="en-IN" sz="1800" dirty="0"/>
              <a:t>Extracts deep, multi-scale apparel features efficiently.</a:t>
            </a:r>
          </a:p>
          <a:p>
            <a:r>
              <a:rPr lang="en-IN" sz="1800" dirty="0"/>
              <a:t>Produces 2048-dimensional feature vectors representing clothing type, </a:t>
            </a:r>
            <a:r>
              <a:rPr lang="en-IN" sz="1800" dirty="0" err="1"/>
              <a:t>color</a:t>
            </a:r>
            <a:r>
              <a:rPr lang="en-IN" sz="1800" dirty="0"/>
              <a:t>, and design.</a:t>
            </a:r>
          </a:p>
          <a:p>
            <a:pPr marL="0" indent="0">
              <a:buNone/>
            </a:pPr>
            <a:r>
              <a:rPr lang="en-IN" sz="1800" b="1" dirty="0"/>
              <a:t>Decoder (LSTM-based):</a:t>
            </a:r>
            <a:endParaRPr lang="en-IN" sz="1800" dirty="0"/>
          </a:p>
          <a:p>
            <a:r>
              <a:rPr lang="en-IN" sz="1800" dirty="0"/>
              <a:t>Sequential decoder that generates captions from visual features and previous word embeddings.</a:t>
            </a:r>
          </a:p>
          <a:p>
            <a:r>
              <a:rPr lang="en-IN" sz="1800" dirty="0"/>
              <a:t>Predicts the next word using a </a:t>
            </a:r>
            <a:r>
              <a:rPr lang="en-IN" sz="1800" dirty="0" err="1"/>
              <a:t>softmax</a:t>
            </a:r>
            <a:r>
              <a:rPr lang="en-IN" sz="1800" dirty="0"/>
              <a:t> layer until the end-of-sequence token.</a:t>
            </a:r>
          </a:p>
          <a:p>
            <a:r>
              <a:rPr lang="en-IN" sz="1800" dirty="0"/>
              <a:t>Optional attention mechanism highlights salient apparel regions per word.</a:t>
            </a:r>
          </a:p>
          <a:p>
            <a:pPr marL="0" indent="0">
              <a:buNone/>
            </a:pPr>
            <a:r>
              <a:rPr lang="en-IN" sz="1800" b="1" dirty="0"/>
              <a:t>Frame-Level Alignment (for Video):</a:t>
            </a:r>
            <a:endParaRPr lang="en-IN" sz="1800" dirty="0"/>
          </a:p>
          <a:p>
            <a:r>
              <a:rPr lang="en-IN" sz="1800" dirty="0"/>
              <a:t>Aligns features across consecutive frames to maintain temporal coherence.</a:t>
            </a:r>
          </a:p>
          <a:p>
            <a:r>
              <a:rPr lang="en-IN" sz="1800" dirty="0"/>
              <a:t>Supports context-aware narration for video sequences.</a:t>
            </a:r>
          </a:p>
          <a:p>
            <a:pPr marL="0" indent="0">
              <a:buNone/>
            </a:pPr>
            <a:r>
              <a:rPr lang="en-IN" sz="1800" b="1" dirty="0"/>
              <a:t>Notes:</a:t>
            </a:r>
            <a:endParaRPr lang="en-IN" sz="1800" dirty="0"/>
          </a:p>
          <a:p>
            <a:r>
              <a:rPr lang="en-IN" sz="1800" dirty="0"/>
              <a:t>Encoder captures visual richness; decoder ensures coherent language output.</a:t>
            </a:r>
          </a:p>
          <a:p>
            <a:r>
              <a:rPr lang="en-IN" sz="1800" dirty="0"/>
              <a:t>Lightweight design balances descriptive quality and efficient inference.</a:t>
            </a:r>
          </a:p>
          <a:p>
            <a:pPr marL="0" indent="0"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8EE7CB-F187-5D7B-932B-912EB316E4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666" y="3923523"/>
            <a:ext cx="3713583" cy="247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77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5C30-4445-2F85-755B-9C8135E6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DB433-0B92-A406-21FD-1D2F3695C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/>
              <a:t>Dataset Used:</a:t>
            </a:r>
            <a:endParaRPr lang="en-IN" sz="2000" dirty="0"/>
          </a:p>
          <a:p>
            <a:r>
              <a:rPr lang="en-IN" sz="2000" dirty="0"/>
              <a:t>Apparel Image Dataset (e.g., </a:t>
            </a:r>
            <a:r>
              <a:rPr lang="en-IN" sz="2000" dirty="0" err="1"/>
              <a:t>DeepFashion</a:t>
            </a:r>
            <a:r>
              <a:rPr lang="en-IN" sz="2000" dirty="0"/>
              <a:t> / your specific dataset)</a:t>
            </a:r>
          </a:p>
          <a:p>
            <a:r>
              <a:rPr lang="en-IN" sz="2000" dirty="0"/>
              <a:t>Total of 50,000 high-resolution clothing images</a:t>
            </a:r>
          </a:p>
          <a:p>
            <a:r>
              <a:rPr lang="en-IN" sz="2000" dirty="0"/>
              <a:t>Split: 40,000 for training, 10,000 for testing</a:t>
            </a:r>
          </a:p>
          <a:p>
            <a:r>
              <a:rPr lang="en-IN" sz="2000" dirty="0"/>
              <a:t>Each image annotated with category, </a:t>
            </a:r>
            <a:r>
              <a:rPr lang="en-IN" sz="2000" dirty="0" err="1"/>
              <a:t>color</a:t>
            </a:r>
            <a:r>
              <a:rPr lang="en-IN" sz="2000" dirty="0"/>
              <a:t>, and attribute labels</a:t>
            </a:r>
          </a:p>
          <a:p>
            <a:pPr marL="0" indent="0">
              <a:buNone/>
            </a:pPr>
            <a:r>
              <a:rPr lang="en-IN" sz="2000" b="1" dirty="0"/>
              <a:t>Preprocessing Steps:</a:t>
            </a:r>
            <a:endParaRPr lang="en-IN" sz="2000" dirty="0"/>
          </a:p>
          <a:p>
            <a:r>
              <a:rPr lang="en-IN" sz="2000" dirty="0"/>
              <a:t>Resize all images → 256 × 256 pixels</a:t>
            </a:r>
          </a:p>
          <a:p>
            <a:r>
              <a:rPr lang="en-IN" sz="2000" dirty="0"/>
              <a:t>Normalize using ImageNet mean &amp; standard deviation</a:t>
            </a:r>
          </a:p>
          <a:p>
            <a:r>
              <a:rPr lang="en-IN" sz="2000" dirty="0"/>
              <a:t>Convert images to </a:t>
            </a:r>
            <a:r>
              <a:rPr lang="en-IN" sz="2000" dirty="0" err="1"/>
              <a:t>PyTorch</a:t>
            </a:r>
            <a:r>
              <a:rPr lang="en-IN" sz="2000" dirty="0"/>
              <a:t> tensors for GPU training</a:t>
            </a:r>
          </a:p>
          <a:p>
            <a:r>
              <a:rPr lang="en-IN" sz="2000" dirty="0"/>
              <a:t>Extract visual features using the encoder for caption generation</a:t>
            </a:r>
          </a:p>
          <a:p>
            <a:r>
              <a:rPr lang="en-IN" sz="2000" dirty="0"/>
              <a:t>Maintain consistent aspect ratios and ensure label alignment after resizing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752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9CEB5-818D-D959-E716-C927BA79F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04" y="13186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99B61-FFD0-93D7-9D77-9D6074A46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10" y="1222310"/>
            <a:ext cx="11045890" cy="49546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Training Details:</a:t>
            </a:r>
            <a:endParaRPr lang="en-IN" sz="2000" dirty="0"/>
          </a:p>
          <a:p>
            <a:r>
              <a:rPr lang="en-IN" sz="2000" b="1" dirty="0"/>
              <a:t>Framework:</a:t>
            </a:r>
            <a:r>
              <a:rPr lang="en-IN" sz="2000" dirty="0"/>
              <a:t> </a:t>
            </a:r>
            <a:r>
              <a:rPr lang="en-IN" sz="2000" dirty="0" err="1"/>
              <a:t>PyTorch</a:t>
            </a:r>
            <a:endParaRPr lang="en-IN" sz="2000" dirty="0"/>
          </a:p>
          <a:p>
            <a:r>
              <a:rPr lang="en-IN" sz="2000" b="1" dirty="0"/>
              <a:t>Optimizer:</a:t>
            </a:r>
            <a:r>
              <a:rPr lang="en-IN" sz="2000" dirty="0"/>
              <a:t> Adam</a:t>
            </a:r>
          </a:p>
          <a:p>
            <a:r>
              <a:rPr lang="en-IN" sz="2000" b="1" dirty="0"/>
              <a:t>Loss Function:</a:t>
            </a:r>
            <a:r>
              <a:rPr lang="en-IN" sz="2000" dirty="0"/>
              <a:t> Cross-Entropy Loss (for caption generation)</a:t>
            </a:r>
          </a:p>
          <a:p>
            <a:r>
              <a:rPr lang="en-IN" sz="2000" b="1" dirty="0"/>
              <a:t>Learning Rate:</a:t>
            </a:r>
            <a:r>
              <a:rPr lang="en-IN" sz="2000" dirty="0"/>
              <a:t> 0.0001 (with </a:t>
            </a:r>
            <a:r>
              <a:rPr lang="en-IN" sz="2000" dirty="0" err="1"/>
              <a:t>ReduceLROnPlateau</a:t>
            </a:r>
            <a:r>
              <a:rPr lang="en-IN" sz="2000" dirty="0"/>
              <a:t> scheduler)</a:t>
            </a:r>
          </a:p>
          <a:p>
            <a:r>
              <a:rPr lang="en-IN" sz="2000" b="1" dirty="0"/>
              <a:t>Epochs:</a:t>
            </a:r>
            <a:r>
              <a:rPr lang="en-IN" sz="2000" dirty="0"/>
              <a:t> 30–50 (until convergence)</a:t>
            </a:r>
          </a:p>
          <a:p>
            <a:r>
              <a:rPr lang="en-IN" sz="2000" b="1" dirty="0"/>
              <a:t>Batch Size:</a:t>
            </a:r>
            <a:r>
              <a:rPr lang="en-IN" sz="2000" dirty="0"/>
              <a:t> 32</a:t>
            </a:r>
          </a:p>
          <a:p>
            <a:r>
              <a:rPr lang="en-IN" sz="2000" b="1" dirty="0"/>
              <a:t>Hardware:</a:t>
            </a:r>
            <a:r>
              <a:rPr lang="en-IN" sz="2000" dirty="0"/>
              <a:t> GPU-accelerated training</a:t>
            </a:r>
          </a:p>
          <a:p>
            <a:pPr marL="0" indent="0">
              <a:buNone/>
            </a:pPr>
            <a:r>
              <a:rPr lang="en-IN" sz="2000" b="1" dirty="0"/>
              <a:t>Key Observations:</a:t>
            </a:r>
            <a:endParaRPr lang="en-IN" sz="2000" dirty="0"/>
          </a:p>
          <a:p>
            <a:r>
              <a:rPr lang="en-IN" sz="2000" dirty="0"/>
              <a:t>Stable convergence with smooth reduction in training </a:t>
            </a:r>
          </a:p>
          <a:p>
            <a:pPr marL="0" indent="0">
              <a:buNone/>
            </a:pPr>
            <a:r>
              <a:rPr lang="en-IN" sz="2000" dirty="0"/>
              <a:t>    and validation loss</a:t>
            </a:r>
          </a:p>
          <a:p>
            <a:r>
              <a:rPr lang="en-IN" sz="2000" dirty="0"/>
              <a:t>Attention mechanism improves word prediction accuracy</a:t>
            </a:r>
          </a:p>
          <a:p>
            <a:r>
              <a:rPr lang="en-IN" sz="2000" dirty="0"/>
              <a:t>Temporal alignment enhances coherence in video captioning</a:t>
            </a:r>
          </a:p>
          <a:p>
            <a:r>
              <a:rPr lang="en-IN" sz="2000" dirty="0"/>
              <a:t>Lightweight decoder ensures fast training without overfitting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9403CC-79CA-F1BF-CBAD-549CBB85C4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363" y="808637"/>
            <a:ext cx="5057192" cy="23886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B49125-CD4F-B079-2738-4EB7FEE39A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006" y="3874051"/>
            <a:ext cx="4519905" cy="249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2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9D73-8785-5057-66AB-FB470D1CD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371281-1E6A-3C93-B79F-F2015DE51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6873"/>
                <a:ext cx="7242110" cy="4600090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Metrics Used: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BLEU Score (BLEU-n):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BLEU</m:t>
                    </m:r>
                    <m:r>
                      <m:rPr>
                        <m:nor/>
                      </m:rPr>
                      <a:rPr lang="en-IN" b="0"/>
                      <m:t>−</m:t>
                    </m:r>
                    <m:r>
                      <m:rPr>
                        <m:nor/>
                      </m:rPr>
                      <a:rPr lang="en-IN" b="0"/>
                      <m:t>n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1"/>
                      <m:t>BP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ar-AE" dirty="0"/>
                  <a:t>→ </a:t>
                </a:r>
                <a:r>
                  <a:rPr lang="en-IN" dirty="0"/>
                  <a:t>Measures n-gram precision between predicted and reference captions.</a:t>
                </a:r>
              </a:p>
              <a:p>
                <a:pPr marL="0" indent="0">
                  <a:buNone/>
                </a:pPr>
                <a:r>
                  <a:rPr lang="en-IN" b="1" dirty="0"/>
                  <a:t>METEOR Score: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METEOR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𝑃𝑒𝑛𝑎𝑙𝑡𝑦</m:t>
                        </m:r>
                      </m:e>
                    </m:d>
                  </m:oMath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ar-AE" dirty="0"/>
                  <a:t>→ </a:t>
                </a:r>
                <a:r>
                  <a:rPr lang="en-IN" dirty="0"/>
                  <a:t>Accounts for precision (P), recall (R), and alignment penalties.</a:t>
                </a:r>
              </a:p>
              <a:p>
                <a:pPr marL="0" indent="0">
                  <a:buNone/>
                </a:pPr>
                <a:r>
                  <a:rPr lang="en-IN" b="1" dirty="0" err="1"/>
                  <a:t>CIDEr</a:t>
                </a:r>
                <a:r>
                  <a:rPr lang="en-IN" b="1" dirty="0"/>
                  <a:t> Score: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CIDEr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den>
                        </m:f>
                      </m:e>
                    </m:nary>
                  </m:oMath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ar-AE" dirty="0"/>
                  <a:t>→ </a:t>
                </a:r>
                <a:r>
                  <a:rPr lang="en-IN" dirty="0"/>
                  <a:t>Measures consensus between generated captions and multiple references.</a:t>
                </a:r>
              </a:p>
              <a:p>
                <a:pPr marL="0" indent="0">
                  <a:buNone/>
                </a:pPr>
                <a:r>
                  <a:rPr lang="en-IN" b="1" dirty="0"/>
                  <a:t>Performance Summary:</a:t>
                </a:r>
                <a:br>
                  <a:rPr lang="en-IN" dirty="0"/>
                </a:br>
                <a:r>
                  <a:rPr lang="en-IN" dirty="0"/>
                  <a:t>BLEU-2: 0.68, BLEU-3: 0.54, METEOR: 0.42, </a:t>
                </a:r>
                <a:r>
                  <a:rPr lang="en-IN" dirty="0" err="1"/>
                  <a:t>CIDEr</a:t>
                </a:r>
                <a:r>
                  <a:rPr lang="en-IN" dirty="0"/>
                  <a:t>: 1.25</a:t>
                </a:r>
                <a:br>
                  <a:rPr lang="en-IN" dirty="0"/>
                </a:br>
                <a:r>
                  <a:rPr lang="en-IN" dirty="0"/>
                  <a:t>Outperforms baseline CNN-LSTM (BLEU-2 0.59, </a:t>
                </a:r>
                <a:r>
                  <a:rPr lang="en-IN" dirty="0" err="1"/>
                  <a:t>CIDEr</a:t>
                </a:r>
                <a:r>
                  <a:rPr lang="en-IN" dirty="0"/>
                  <a:t> 1.02)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371281-1E6A-3C93-B79F-F2015DE51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6873"/>
                <a:ext cx="7242110" cy="4600090"/>
              </a:xfrm>
              <a:blipFill>
                <a:blip r:embed="rId2"/>
                <a:stretch>
                  <a:fillRect l="-842" t="-2387" b="-21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60E2CD28-FC99-7BCC-8F12-8D04EE832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931" y="2919655"/>
            <a:ext cx="4537190" cy="268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44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E4D1-7B73-3825-B80A-3B0D9C64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6D7D1-5594-C070-4D45-32DFF7844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865"/>
            <a:ext cx="7923245" cy="4572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Highlights: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/>
              <a:t>The proposed </a:t>
            </a:r>
            <a:r>
              <a:rPr lang="en-US" sz="1800" i="1" dirty="0"/>
              <a:t>Smart Apparel Narrator</a:t>
            </a:r>
            <a:r>
              <a:rPr lang="en-US" sz="1800" dirty="0"/>
              <a:t> shows faster convergence and lower loss compared to baseline models. The </a:t>
            </a:r>
            <a:r>
              <a:rPr lang="en-US" sz="1800" dirty="0" err="1"/>
              <a:t>ConvNeXt</a:t>
            </a:r>
            <a:r>
              <a:rPr lang="en-US" sz="1800" dirty="0"/>
              <a:t>-LSTM framework learns effective apparel–caption relationships within the first 10 epochs, achieving stable and consistent performance.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Results: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Results: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/>
              <a:t>Generated captions closely describe apparel </a:t>
            </a:r>
            <a:r>
              <a:rPr lang="en-US" sz="1900" b="1" dirty="0"/>
              <a:t>color, texture, and design</a:t>
            </a:r>
            <a:r>
              <a:rPr lang="en-US" sz="1900" dirty="0"/>
              <a:t>, even under </a:t>
            </a:r>
            <a:r>
              <a:rPr lang="en-US" sz="1900" b="1" dirty="0"/>
              <a:t>complex or overlapping clothing</a:t>
            </a:r>
            <a:r>
              <a:rPr lang="en-US" sz="1900" dirty="0"/>
              <a:t>. The system demonstrates strong generalization and produces human-like, context-aware fashion descriptions.</a:t>
            </a:r>
            <a:endParaRPr lang="en-IN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11577A-0A11-577D-DECD-30370B192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050" y="3700767"/>
            <a:ext cx="7690321" cy="74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68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EF25E-71D2-5635-FF93-ED177A39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ED463-5CA4-905B-59FF-B8811A466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Efficiency: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US" dirty="0"/>
              <a:t>Lightweight and optimized — ideal for </a:t>
            </a:r>
            <a:r>
              <a:rPr lang="en-US" b="1" dirty="0"/>
              <a:t>real-time deployment in fashion analytics and e-commerce platforms</a:t>
            </a: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15736-D5A5-5983-5DC0-D476D00F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931" y="2506884"/>
            <a:ext cx="5340670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87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F82B-6FC4-05F6-0ED3-DE2E075E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DE246-1FBB-9A48-2A97-93D4A730D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584"/>
            <a:ext cx="10515600" cy="47493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Introduced </a:t>
            </a:r>
            <a:r>
              <a:rPr lang="en-US" i="1" dirty="0"/>
              <a:t>Smart Apparel Narrator</a:t>
            </a:r>
            <a:r>
              <a:rPr lang="en-US" dirty="0"/>
              <a:t>, a </a:t>
            </a:r>
            <a:r>
              <a:rPr lang="en-US" dirty="0" err="1"/>
              <a:t>ConvNeXt</a:t>
            </a:r>
            <a:r>
              <a:rPr lang="en-US" dirty="0"/>
              <a:t>-LSTM based deep learning framework for generating meaningful apparel captions from images and videos. The model achieved high captioning accuracy with BLEU-1 to BLEU-4 scores of </a:t>
            </a:r>
            <a:r>
              <a:rPr lang="en-US" b="1" dirty="0"/>
              <a:t>0.946, 0.932, 0.924, and 0.917</a:t>
            </a:r>
            <a:r>
              <a:rPr lang="en-US" dirty="0"/>
              <a:t>, outperforming baseline CNN–LSTM and transformer models. The system is </a:t>
            </a:r>
            <a:r>
              <a:rPr lang="en-US" b="1" dirty="0"/>
              <a:t>lightweight, accurate, and suitable for real-time fashion analytics and e-commerce deployment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Future Scope:</a:t>
            </a:r>
            <a:endParaRPr lang="en-US" dirty="0"/>
          </a:p>
          <a:p>
            <a:r>
              <a:rPr lang="en-US" dirty="0"/>
              <a:t>Extend the framework to </a:t>
            </a:r>
            <a:r>
              <a:rPr lang="en-US" b="1" dirty="0"/>
              <a:t>larger and more diverse apparel datasets</a:t>
            </a:r>
            <a:r>
              <a:rPr lang="en-US" dirty="0"/>
              <a:t> covering global fashion trends.</a:t>
            </a:r>
          </a:p>
          <a:p>
            <a:r>
              <a:rPr lang="en-US" dirty="0"/>
              <a:t>Integrate </a:t>
            </a:r>
            <a:r>
              <a:rPr lang="en-US" b="1" dirty="0"/>
              <a:t>attention and transformer-based architectures</a:t>
            </a:r>
            <a:r>
              <a:rPr lang="en-US" dirty="0"/>
              <a:t> for enhanced context understanding.</a:t>
            </a:r>
          </a:p>
          <a:p>
            <a:r>
              <a:rPr lang="en-US" dirty="0"/>
              <a:t>Develop </a:t>
            </a:r>
            <a:r>
              <a:rPr lang="en-US" b="1" dirty="0"/>
              <a:t>real-time video narration</a:t>
            </a:r>
            <a:r>
              <a:rPr lang="en-US" dirty="0"/>
              <a:t> for dynamic apparel movement analysis.</a:t>
            </a:r>
          </a:p>
          <a:p>
            <a:r>
              <a:rPr lang="en-US" dirty="0"/>
              <a:t>Optimize for </a:t>
            </a:r>
            <a:r>
              <a:rPr lang="en-US" b="1" dirty="0"/>
              <a:t>mobile and edge device deployment</a:t>
            </a:r>
            <a:r>
              <a:rPr lang="en-US" dirty="0"/>
              <a:t> to support accessibility applications such as </a:t>
            </a:r>
            <a:r>
              <a:rPr lang="en-US" b="1" dirty="0"/>
              <a:t>assistive narration for visually impaired users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694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1114</Words>
  <Application>Microsoft Office PowerPoint</Application>
  <PresentationFormat>Widescreen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2025 6th  GLOBAL CONFERENCE FOR ADVANCEMENT IN TECHNOLOGY (GCAT 2025)</vt:lpstr>
      <vt:lpstr>Index-</vt:lpstr>
      <vt:lpstr>Introduction-</vt:lpstr>
      <vt:lpstr>Objectives-</vt:lpstr>
      <vt:lpstr>Literature Survey-</vt:lpstr>
      <vt:lpstr>Proposed Framework-</vt:lpstr>
      <vt:lpstr>Model Architecture-</vt:lpstr>
      <vt:lpstr>Dataset &amp; Preprocessing-</vt:lpstr>
      <vt:lpstr>Training Setup-</vt:lpstr>
      <vt:lpstr>Evaluation Metrics-</vt:lpstr>
      <vt:lpstr>Results &amp; Analysis-</vt:lpstr>
      <vt:lpstr>Comparative Analysis-</vt:lpstr>
      <vt:lpstr>Conclusion &amp; Future Scope-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Kanumuri Narendra</cp:lastModifiedBy>
  <cp:revision>12</cp:revision>
  <dcterms:created xsi:type="dcterms:W3CDTF">2021-06-10T05:32:34Z</dcterms:created>
  <dcterms:modified xsi:type="dcterms:W3CDTF">2026-02-09T04:33:44Z</dcterms:modified>
</cp:coreProperties>
</file>