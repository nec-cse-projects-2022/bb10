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handoutMasterIdLst>
    <p:handoutMasterId r:id="rId31"/>
  </p:handoutMasterIdLst>
  <p:sldIdLst>
    <p:sldId id="281" r:id="rId2"/>
    <p:sldId id="260" r:id="rId3"/>
    <p:sldId id="262" r:id="rId4"/>
    <p:sldId id="279" r:id="rId5"/>
    <p:sldId id="263" r:id="rId6"/>
    <p:sldId id="280" r:id="rId7"/>
    <p:sldId id="265" r:id="rId8"/>
    <p:sldId id="270" r:id="rId9"/>
    <p:sldId id="266" r:id="rId10"/>
    <p:sldId id="268" r:id="rId11"/>
    <p:sldId id="269" r:id="rId12"/>
    <p:sldId id="283" r:id="rId13"/>
    <p:sldId id="284" r:id="rId14"/>
    <p:sldId id="287" r:id="rId15"/>
    <p:sldId id="288" r:id="rId16"/>
    <p:sldId id="289" r:id="rId17"/>
    <p:sldId id="290" r:id="rId18"/>
    <p:sldId id="303" r:id="rId19"/>
    <p:sldId id="291" r:id="rId20"/>
    <p:sldId id="301" r:id="rId21"/>
    <p:sldId id="302" r:id="rId22"/>
    <p:sldId id="304" r:id="rId23"/>
    <p:sldId id="292" r:id="rId24"/>
    <p:sldId id="293" r:id="rId25"/>
    <p:sldId id="296" r:id="rId26"/>
    <p:sldId id="297" r:id="rId27"/>
    <p:sldId id="298" r:id="rId28"/>
    <p:sldId id="28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08" autoAdjust="0"/>
    <p:restoredTop sz="94660"/>
  </p:normalViewPr>
  <p:slideViewPr>
    <p:cSldViewPr snapToGrid="0">
      <p:cViewPr varScale="1">
        <p:scale>
          <a:sx n="82" d="100"/>
          <a:sy n="82" d="100"/>
        </p:scale>
        <p:origin x="538" y="7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11-11-2025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257921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10-11-2025</a:t>
            </a:r>
            <a:endParaRPr lang="en-IN"/>
          </a:p>
        </p:txBody>
      </p:sp>
      <p:sp>
        <p:nvSpPr>
          <p:cNvPr id="8" name="Footer Placeholder 7"/>
          <p:cNvSpPr>
            <a:spLocks noGrp="1"/>
          </p:cNvSpPr>
          <p:nvPr>
            <p:ph type="ftr" sz="quarter" idx="11"/>
          </p:nvPr>
        </p:nvSpPr>
        <p:spPr/>
        <p:txBody>
          <a:bodyPr/>
          <a:lstStyle/>
          <a:p>
            <a:r>
              <a:rPr lang="en-US"/>
              <a:t>Review No. 01         Batch No.  AB6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10-11-2025</a:t>
            </a:r>
            <a:endParaRPr lang="en-IN"/>
          </a:p>
        </p:txBody>
      </p:sp>
      <p:sp>
        <p:nvSpPr>
          <p:cNvPr id="4" name="Footer Placeholder 3"/>
          <p:cNvSpPr>
            <a:spLocks noGrp="1"/>
          </p:cNvSpPr>
          <p:nvPr>
            <p:ph type="ftr" sz="quarter" idx="11"/>
          </p:nvPr>
        </p:nvSpPr>
        <p:spPr/>
        <p:txBody>
          <a:bodyPr/>
          <a:lstStyle/>
          <a:p>
            <a:r>
              <a:rPr lang="en-US"/>
              <a:t>Review No. 01         Batch No.  AB6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10-11-2025</a:t>
            </a:r>
            <a:endParaRPr lang="en-IN"/>
          </a:p>
        </p:txBody>
      </p:sp>
      <p:sp>
        <p:nvSpPr>
          <p:cNvPr id="3" name="Footer Placeholder 2"/>
          <p:cNvSpPr>
            <a:spLocks noGrp="1"/>
          </p:cNvSpPr>
          <p:nvPr>
            <p:ph type="ftr" sz="quarter" idx="11"/>
          </p:nvPr>
        </p:nvSpPr>
        <p:spPr/>
        <p:txBody>
          <a:bodyPr/>
          <a:lstStyle/>
          <a:p>
            <a:r>
              <a:rPr lang="en-US"/>
              <a:t>Review No. 01         Batch No.  AB6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10-11-2025</a:t>
            </a:r>
            <a:endParaRPr lang="en-IN"/>
          </a:p>
        </p:txBody>
      </p:sp>
      <p:sp>
        <p:nvSpPr>
          <p:cNvPr id="6" name="Footer Placeholder 5"/>
          <p:cNvSpPr>
            <a:spLocks noGrp="1"/>
          </p:cNvSpPr>
          <p:nvPr>
            <p:ph type="ftr" sz="quarter" idx="11"/>
          </p:nvPr>
        </p:nvSpPr>
        <p:spPr/>
        <p:txBody>
          <a:bodyPr/>
          <a:lstStyle/>
          <a:p>
            <a:r>
              <a:rPr lang="en-US"/>
              <a:t>Review No. 01         Batch No.  AB6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10-11-2025</a:t>
            </a:r>
            <a:endParaRPr lang="en-IN"/>
          </a:p>
        </p:txBody>
      </p:sp>
      <p:sp>
        <p:nvSpPr>
          <p:cNvPr id="5" name="Footer Placeholder 4"/>
          <p:cNvSpPr>
            <a:spLocks noGrp="1"/>
          </p:cNvSpPr>
          <p:nvPr>
            <p:ph type="ftr" sz="quarter" idx="11"/>
          </p:nvPr>
        </p:nvSpPr>
        <p:spPr/>
        <p:txBody>
          <a:bodyPr/>
          <a:lstStyle/>
          <a:p>
            <a:r>
              <a:rPr lang="en-US"/>
              <a:t>Review No. 01         Batch No.  AB6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10-11-2025</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01         Batch No.  AB6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itchFamily="18" charset="0"/>
              </a:rPr>
              <a:t>Department of Computer Science and Engineering</a:t>
            </a:r>
          </a:p>
          <a:p>
            <a:pPr algn="ctr">
              <a:spcBef>
                <a:spcPct val="20000"/>
              </a:spcBef>
              <a:defRPr/>
            </a:pPr>
            <a:r>
              <a:rPr lang="en-US" sz="2400" b="1" dirty="0">
                <a:solidFill>
                  <a:srgbClr val="FF0000"/>
                </a:solidFill>
              </a:rPr>
              <a:t>SMART APPAREL NARRATOR: DEEP </a:t>
            </a:r>
          </a:p>
          <a:p>
            <a:pPr algn="ctr">
              <a:spcBef>
                <a:spcPct val="20000"/>
              </a:spcBef>
              <a:defRPr/>
            </a:pPr>
            <a:r>
              <a:rPr lang="en-US" sz="2400" b="1" dirty="0">
                <a:solidFill>
                  <a:srgbClr val="FF0000"/>
                </a:solidFill>
              </a:rPr>
              <a:t>LEARNING-BASED CAPTIONING FOR IMAGES </a:t>
            </a:r>
          </a:p>
          <a:p>
            <a:pPr algn="ctr">
              <a:spcBef>
                <a:spcPct val="20000"/>
              </a:spcBef>
              <a:defRPr/>
            </a:pPr>
            <a:r>
              <a:rPr lang="en-US" sz="2400" b="1" dirty="0">
                <a:solidFill>
                  <a:srgbClr val="FF0000"/>
                </a:solidFill>
              </a:rPr>
              <a:t>AND VIDEOS </a:t>
            </a:r>
          </a:p>
          <a:p>
            <a:pPr lvl="0" algn="ctr">
              <a:spcBef>
                <a:spcPct val="20000"/>
              </a:spcBef>
              <a:defRPr/>
            </a:pPr>
            <a:endParaRPr lang="en-US" b="1" dirty="0">
              <a:latin typeface="Times New Roman" panose="02020603050405020304" pitchFamily="18" charset="0"/>
              <a:cs typeface="Times New Roman" pitchFamily="18" charset="0"/>
            </a:endParaRPr>
          </a:p>
        </p:txBody>
      </p:sp>
      <p:sp>
        <p:nvSpPr>
          <p:cNvPr id="16" name="Subtitle 2"/>
          <p:cNvSpPr>
            <a:spLocks noGrp="1"/>
          </p:cNvSpPr>
          <p:nvPr>
            <p:ph type="subTitle" idx="1"/>
          </p:nvPr>
        </p:nvSpPr>
        <p:spPr>
          <a:xfrm>
            <a:off x="1754154" y="2481942"/>
            <a:ext cx="9144000" cy="1362269"/>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Kanumuri Narendra</a:t>
            </a:r>
            <a:r>
              <a:rPr lang="en-US" altLang="en-US" sz="1600" dirty="0">
                <a:latin typeface="Times New Roman" panose="02020603050405020304" pitchFamily="18" charset="0"/>
                <a:cs typeface="Times New Roman" pitchFamily="18" charset="0"/>
              </a:rPr>
              <a:t> (22471A05A0)</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Nallamekala</a:t>
            </a:r>
            <a:r>
              <a:rPr lang="en-US" altLang="en-US" sz="1600" dirty="0">
                <a:latin typeface="Times New Roman" panose="02020603050405020304" pitchFamily="18" charset="0"/>
                <a:cs typeface="Times New Roman" pitchFamily="18" charset="0"/>
              </a:rPr>
              <a:t> Vignesh</a:t>
            </a:r>
            <a:r>
              <a:rPr lang="en-US" altLang="en-US" sz="1600" dirty="0">
                <a:solidFill>
                  <a:schemeClr val="tx1"/>
                </a:solidFill>
                <a:latin typeface="Times New Roman" panose="02020603050405020304" pitchFamily="18" charset="0"/>
                <a:cs typeface="Times New Roman" pitchFamily="18" charset="0"/>
              </a:rPr>
              <a:t> (22471A05</a:t>
            </a:r>
            <a:r>
              <a:rPr lang="en-US" altLang="en-US" sz="1600" dirty="0">
                <a:latin typeface="Times New Roman" panose="02020603050405020304" pitchFamily="18" charset="0"/>
                <a:cs typeface="Times New Roman" pitchFamily="18" charset="0"/>
              </a:rPr>
              <a:t>B1</a:t>
            </a:r>
            <a:r>
              <a:rPr lang="en-US" altLang="en-US" sz="1600" dirty="0">
                <a:solidFill>
                  <a:schemeClr val="tx1"/>
                </a:solidFill>
                <a:latin typeface="Times New Roman" panose="02020603050405020304" pitchFamily="18" charset="0"/>
                <a:cs typeface="Times New Roman" pitchFamily="18" charset="0"/>
              </a:rPr>
              <a:t>)</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a:t>
            </a:r>
            <a:r>
              <a:rPr lang="en-US" sz="1600" dirty="0"/>
              <a:t> Peddipaka Udaykiran</a:t>
            </a:r>
            <a:r>
              <a:rPr lang="en-US" altLang="en-US" sz="1600" dirty="0">
                <a:latin typeface="Times New Roman" panose="02020603050405020304" pitchFamily="18" charset="0"/>
                <a:cs typeface="Times New Roman" pitchFamily="18" charset="0"/>
              </a:rPr>
              <a:t> </a:t>
            </a:r>
            <a:r>
              <a:rPr lang="en-US" altLang="en-US" sz="1600" dirty="0">
                <a:solidFill>
                  <a:schemeClr val="tx1"/>
                </a:solidFill>
                <a:latin typeface="Times New Roman" panose="02020603050405020304" pitchFamily="18" charset="0"/>
                <a:cs typeface="Times New Roman" pitchFamily="18" charset="0"/>
              </a:rPr>
              <a:t>(</a:t>
            </a:r>
            <a:r>
              <a:rPr lang="en-US" altLang="en-US" sz="1600" dirty="0">
                <a:latin typeface="Times New Roman" panose="02020603050405020304" pitchFamily="18" charset="0"/>
                <a:cs typeface="Times New Roman" pitchFamily="18" charset="0"/>
              </a:rPr>
              <a:t>22471A05B8</a:t>
            </a:r>
            <a:r>
              <a:rPr lang="en-US" altLang="en-US" sz="1600" dirty="0">
                <a:solidFill>
                  <a:schemeClr val="tx1"/>
                </a:solidFill>
                <a:latin typeface="Times New Roman" panose="02020603050405020304" pitchFamily="18" charset="0"/>
                <a:cs typeface="Times New Roman" pitchFamily="18" charset="0"/>
              </a:rPr>
              <a:t>)</a:t>
            </a:r>
          </a:p>
          <a:p>
            <a:pPr algn="l"/>
            <a:endParaRPr lang="en-US" altLang="en-US" sz="1600" dirty="0">
              <a:solidFill>
                <a:schemeClr val="tx1"/>
              </a:solidFill>
              <a:latin typeface="Times New Roman" panose="02020603050405020304" pitchFamily="18" charset="0"/>
              <a:cs typeface="Times New Roman" pitchFamily="18" charset="0"/>
            </a:endParaRPr>
          </a:p>
        </p:txBody>
      </p:sp>
      <p:sp>
        <p:nvSpPr>
          <p:cNvPr id="17" name="Subtitle 2"/>
          <p:cNvSpPr txBox="1">
            <a:spLocks/>
          </p:cNvSpPr>
          <p:nvPr/>
        </p:nvSpPr>
        <p:spPr bwMode="auto">
          <a:xfrm>
            <a:off x="2897154" y="3844212"/>
            <a:ext cx="6858000" cy="2397968"/>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2400" b="1" kern="100" baseline="-25000" dirty="0" err="1">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Dr.S.N.Thirumala</a:t>
            </a:r>
            <a:r>
              <a:rPr lang="en-US" sz="2400" b="1" kern="100" baseline="-25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Rao </a:t>
            </a:r>
            <a:r>
              <a:rPr lang="en-US" sz="1800" b="1" kern="100" baseline="-25000" dirty="0" err="1">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M.Tech</a:t>
            </a:r>
            <a:r>
              <a:rPr lang="en-US" sz="1800" b="1" kern="100" baseline="-25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 , Ph.D. ,</a:t>
            </a:r>
            <a:endParaRPr lang="en-IN" sz="1800" b="1" kern="100" baseline="-25000" dirty="0">
              <a:solidFill>
                <a:schemeClr val="tx1">
                  <a:lumMod val="95000"/>
                  <a:lumOff val="5000"/>
                </a:schemeClr>
              </a:solidFill>
              <a:effectLst/>
              <a:latin typeface="Calibri" panose="020F0502020204030204" pitchFamily="34" charset="0"/>
              <a:ea typeface="Calibri" panose="020F0502020204030204" pitchFamily="34" charset="0"/>
              <a:cs typeface="Times New Roman" panose="02020603050405020304" pitchFamily="18" charset="0"/>
            </a:endParaRPr>
          </a:p>
          <a:p>
            <a:pPr algn="ctr" eaLnBrk="1" hangingPunct="1">
              <a:lnSpc>
                <a:spcPct val="150000"/>
              </a:lnSpc>
              <a:spcBef>
                <a:spcPct val="20000"/>
              </a:spcBef>
              <a:buFont typeface="Wingdings" pitchFamily="2" charset="2"/>
              <a:buNone/>
            </a:pPr>
            <a:r>
              <a:rPr lang="en-US" sz="1600" b="1" kern="1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Professor ,</a:t>
            </a:r>
            <a:endParaRPr lang="en-US" altLang="en-US" sz="1600" b="1" dirty="0">
              <a:solidFill>
                <a:schemeClr val="tx1">
                  <a:lumMod val="95000"/>
                  <a:lumOff val="5000"/>
                </a:schemeClr>
              </a:solidFill>
              <a:latin typeface="Times New Roman" pitchFamily="18" charset="0"/>
              <a:cs typeface="Times New Roman" pitchFamily="18" charset="0"/>
            </a:endParaRP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Narasaraopeta Engineering College (Autonomous),</a:t>
            </a:r>
          </a:p>
          <a:p>
            <a:pPr algn="ctr" eaLnBrk="1" hangingPunct="1">
              <a:lnSpc>
                <a:spcPct val="150000"/>
              </a:lnSpc>
              <a:spcBef>
                <a:spcPct val="20000"/>
              </a:spcBef>
              <a:buFont typeface="Wingdings" pitchFamily="2" charset="2"/>
              <a:buNone/>
            </a:pPr>
            <a:r>
              <a:rPr lang="en-US" altLang="en-US" sz="1600" dirty="0">
                <a:solidFill>
                  <a:schemeClr val="tx1">
                    <a:lumMod val="95000"/>
                    <a:lumOff val="5000"/>
                  </a:schemeClr>
                </a:solidFill>
                <a:latin typeface="Times New Roman" pitchFamily="18" charset="0"/>
                <a:cs typeface="Times New Roman" pitchFamily="18" charset="0"/>
              </a:rPr>
              <a:t>Narasaraopet- 522 601.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2603341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73486"/>
            <a:ext cx="10173182" cy="810555"/>
          </a:xfrm>
        </p:spPr>
        <p:txBody>
          <a:bodyPr/>
          <a:lstStyle/>
          <a:p>
            <a:pPr algn="ctr"/>
            <a:r>
              <a:rPr lang="en-US" b="1">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40158" y="1274193"/>
            <a:ext cx="10534917" cy="5082157"/>
          </a:xfrm>
        </p:spPr>
        <p:txBody>
          <a:bodyPr>
            <a:normAutofit lnSpcReduction="10000"/>
          </a:bodyPr>
          <a:lstStyle/>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Abstract</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Literature Survey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Research Gaps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Problem Statement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Objectives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Block Diagram / Flow Diagram</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Methodology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Implementation</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Results and Analysis </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Conclusion &amp; Future Scope</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References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Acknowledgements</a:t>
            </a:r>
          </a:p>
          <a:p>
            <a:pPr marL="342900" indent="-342900">
              <a:buFont typeface="+mj-lt"/>
              <a:buAutoNum type="arabicPeriod"/>
            </a:pPr>
            <a:r>
              <a:rPr lang="en-US" sz="1800" dirty="0">
                <a:latin typeface="Times New Roman" panose="02020603050405020304" pitchFamily="18" charset="0"/>
                <a:cs typeface="Times New Roman" panose="02020603050405020304" pitchFamily="18" charset="0"/>
              </a:rPr>
              <a:t>Question and Answers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a:xfrm>
            <a:off x="4038600" y="6387523"/>
            <a:ext cx="4114800" cy="365125"/>
          </a:xfrm>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F6D0F4-0F98-9A28-3386-CCCD30F7AD43}"/>
              </a:ext>
            </a:extLst>
          </p:cNvPr>
          <p:cNvSpPr txBox="1"/>
          <p:nvPr/>
        </p:nvSpPr>
        <p:spPr>
          <a:xfrm>
            <a:off x="1022478" y="1438023"/>
            <a:ext cx="10331322" cy="4154984"/>
          </a:xfrm>
          <a:prstGeom prst="rect">
            <a:avLst/>
          </a:prstGeom>
          <a:noFill/>
        </p:spPr>
        <p:txBody>
          <a:bodyPr wrap="square">
            <a:spAutoFit/>
          </a:bodyPr>
          <a:lstStyle/>
          <a:p>
            <a:r>
              <a:rPr lang="en-US" sz="2400" dirty="0"/>
              <a:t>The project uses a custom Apparel Dataset with 26 categories and 1000 samples each, ensuring balanced and efficient model training.</a:t>
            </a:r>
            <a:br>
              <a:rPr lang="en-US" sz="2400" dirty="0"/>
            </a:br>
            <a:r>
              <a:rPr lang="en-US" sz="2400" dirty="0"/>
              <a:t>Image preprocessing involves resizing and CLAHE enhancement to improve clarity, highlight fabric textures, and emphasize design features.</a:t>
            </a:r>
            <a:br>
              <a:rPr lang="en-US" sz="2400" dirty="0"/>
            </a:br>
            <a:r>
              <a:rPr lang="en-US" sz="2400" dirty="0"/>
              <a:t>A </a:t>
            </a:r>
            <a:r>
              <a:rPr lang="en-US" sz="2400" dirty="0" err="1"/>
              <a:t>ConvNeXt</a:t>
            </a:r>
            <a:r>
              <a:rPr lang="en-US" sz="2400" dirty="0"/>
              <a:t>-based encoder extracts detailed apparel features, while an LSTM decoder generates accurate and context-aware captions using transfer learning.</a:t>
            </a:r>
            <a:br>
              <a:rPr lang="en-US" sz="2400" dirty="0"/>
            </a:br>
            <a:r>
              <a:rPr lang="en-US" sz="2400" dirty="0"/>
              <a:t>The hybrid model achieved 97.8% test accuracy and 96.5% validation accuracy, with precision, recall, and F1-scores exceeding 95% across all apparel classes.</a:t>
            </a:r>
            <a:br>
              <a:rPr lang="en-US" sz="2400" dirty="0"/>
            </a:br>
            <a:r>
              <a:rPr lang="en-US" sz="2400" dirty="0"/>
              <a:t>An integrated attention optimization mechanism effectively identifies key apparel regions, achieving 94% segmentation accuracy for reliable and descriptive caption generation.</a:t>
            </a:r>
          </a:p>
        </p:txBody>
      </p:sp>
    </p:spTree>
    <p:extLst>
      <p:ext uri="{BB962C8B-B14F-4D97-AF65-F5344CB8AC3E}">
        <p14:creationId xmlns:p14="http://schemas.microsoft.com/office/powerpoint/2010/main" val="136910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53DEA328-2237-9916-3F28-C287315A93F6}"/>
              </a:ext>
            </a:extLst>
          </p:cNvPr>
          <p:cNvSpPr>
            <a:spLocks noGrp="1" noChangeArrowheads="1"/>
          </p:cNvSpPr>
          <p:nvPr>
            <p:ph idx="1"/>
          </p:nvPr>
        </p:nvSpPr>
        <p:spPr bwMode="auto">
          <a:xfrm>
            <a:off x="278113" y="1296915"/>
            <a:ext cx="11635774" cy="4464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FontTx/>
              <a:buChar char="•"/>
            </a:pPr>
            <a:r>
              <a:rPr lang="en-US" sz="2400" dirty="0"/>
              <a:t>Fashion plays a vital role in today’s digital economy, influencing millions of people and driving global market trends.</a:t>
            </a:r>
          </a:p>
          <a:p>
            <a:pPr marL="0" lvl="0" indent="0" algn="just" eaLnBrk="0" fontAlgn="base" hangingPunct="0">
              <a:lnSpc>
                <a:spcPct val="150000"/>
              </a:lnSpc>
              <a:spcBef>
                <a:spcPct val="0"/>
              </a:spcBef>
              <a:spcAft>
                <a:spcPct val="0"/>
              </a:spcAft>
              <a:buFontTx/>
              <a:buChar char="•"/>
            </a:pPr>
            <a:r>
              <a:rPr lang="en-US" sz="2400" dirty="0"/>
              <a:t>Automated apparel analysis has become essential, as it determines both the efficiency and quality of fashion-related services.</a:t>
            </a:r>
          </a:p>
          <a:p>
            <a:pPr marL="0" lvl="0" indent="0" algn="just" eaLnBrk="0" fontAlgn="base" hangingPunct="0">
              <a:lnSpc>
                <a:spcPct val="150000"/>
              </a:lnSpc>
              <a:spcBef>
                <a:spcPct val="0"/>
              </a:spcBef>
              <a:spcAft>
                <a:spcPct val="0"/>
              </a:spcAft>
              <a:buFontTx/>
              <a:buChar char="•"/>
            </a:pPr>
            <a:r>
              <a:rPr lang="en-US" sz="2400" dirty="0"/>
              <a:t>Without intelligent recognition systems, apparel categorization and description remain inconsistent and time-consuming for retailers.</a:t>
            </a:r>
          </a:p>
          <a:p>
            <a:pPr marL="0" lvl="0" indent="0" algn="just" eaLnBrk="0" fontAlgn="base" hangingPunct="0">
              <a:lnSpc>
                <a:spcPct val="150000"/>
              </a:lnSpc>
              <a:spcBef>
                <a:spcPct val="0"/>
              </a:spcBef>
              <a:spcAft>
                <a:spcPct val="0"/>
              </a:spcAft>
              <a:buFontTx/>
              <a:buChar char="•"/>
            </a:pPr>
            <a:r>
              <a:rPr lang="en-US" sz="2400" dirty="0"/>
              <a:t>Conventional methods depend on manual tagging, which is labor-intensive, costly, and impractical for large-scale online platforms.</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575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665174"/>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a:xfrm>
            <a:off x="838200" y="6356350"/>
            <a:ext cx="2743200" cy="365125"/>
          </a:xfrm>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4279831709"/>
              </p:ext>
            </p:extLst>
          </p:nvPr>
        </p:nvGraphicFramePr>
        <p:xfrm>
          <a:off x="762000" y="1646238"/>
          <a:ext cx="10667999" cy="3830738"/>
        </p:xfrm>
        <a:graphic>
          <a:graphicData uri="http://schemas.openxmlformats.org/drawingml/2006/table">
            <a:tbl>
              <a:tblPr firstRow="1" bandRow="1">
                <a:tableStyleId>{17292A2E-F333-43FB-9621-5CBBE7FDCDCB}</a:tableStyleId>
              </a:tblPr>
              <a:tblGrid>
                <a:gridCol w="599515">
                  <a:extLst>
                    <a:ext uri="{9D8B030D-6E8A-4147-A177-3AD203B41FA5}">
                      <a16:colId xmlns:a16="http://schemas.microsoft.com/office/drawing/2014/main" val="166576671"/>
                    </a:ext>
                  </a:extLst>
                </a:gridCol>
                <a:gridCol w="1916206">
                  <a:extLst>
                    <a:ext uri="{9D8B030D-6E8A-4147-A177-3AD203B41FA5}">
                      <a16:colId xmlns:a16="http://schemas.microsoft.com/office/drawing/2014/main" val="946789180"/>
                    </a:ext>
                  </a:extLst>
                </a:gridCol>
                <a:gridCol w="1693290">
                  <a:extLst>
                    <a:ext uri="{9D8B030D-6E8A-4147-A177-3AD203B41FA5}">
                      <a16:colId xmlns:a16="http://schemas.microsoft.com/office/drawing/2014/main" val="3483638722"/>
                    </a:ext>
                  </a:extLst>
                </a:gridCol>
                <a:gridCol w="1550814">
                  <a:extLst>
                    <a:ext uri="{9D8B030D-6E8A-4147-A177-3AD203B41FA5}">
                      <a16:colId xmlns:a16="http://schemas.microsoft.com/office/drawing/2014/main" val="1190061112"/>
                    </a:ext>
                  </a:extLst>
                </a:gridCol>
                <a:gridCol w="1928781">
                  <a:extLst>
                    <a:ext uri="{9D8B030D-6E8A-4147-A177-3AD203B41FA5}">
                      <a16:colId xmlns:a16="http://schemas.microsoft.com/office/drawing/2014/main" val="3469305604"/>
                    </a:ext>
                  </a:extLst>
                </a:gridCol>
                <a:gridCol w="1483516">
                  <a:extLst>
                    <a:ext uri="{9D8B030D-6E8A-4147-A177-3AD203B41FA5}">
                      <a16:colId xmlns:a16="http://schemas.microsoft.com/office/drawing/2014/main" val="3853106642"/>
                    </a:ext>
                  </a:extLst>
                </a:gridCol>
                <a:gridCol w="1495877">
                  <a:extLst>
                    <a:ext uri="{9D8B030D-6E8A-4147-A177-3AD203B41FA5}">
                      <a16:colId xmlns:a16="http://schemas.microsoft.com/office/drawing/2014/main" val="1601472594"/>
                    </a:ext>
                  </a:extLst>
                </a:gridCol>
              </a:tblGrid>
              <a:tr h="511054">
                <a:tc>
                  <a:txBody>
                    <a:bodyPr/>
                    <a:lstStyle/>
                    <a:p>
                      <a:pPr algn="ctr"/>
                      <a:r>
                        <a:rPr lang="en-US" sz="1600">
                          <a:solidFill>
                            <a:schemeClr val="tx1"/>
                          </a:solidFill>
                        </a:rPr>
                        <a:t>No</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Title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a:t>
                      </a:r>
                      <a:r>
                        <a:rPr lang="en-US" sz="1600" baseline="0">
                          <a:solidFill>
                            <a:schemeClr val="tx1"/>
                          </a:solidFill>
                        </a:rPr>
                        <a:t> Name &amp; Year</a:t>
                      </a:r>
                      <a:endParaRPr lang="en-US"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775240">
                <a:tc>
                  <a:txBody>
                    <a:bodyPr/>
                    <a:lstStyle/>
                    <a:p>
                      <a:pPr algn="ctr"/>
                      <a:r>
                        <a:rPr lang="en-US" sz="1400">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Image and Video Captioning for Apparels Using Deep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Govind Agarwal </a:t>
                      </a:r>
                      <a:r>
                        <a:rPr lang="da-DK" sz="1400" dirty="0"/>
                        <a:t>et al</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da-DK" sz="1400" dirty="0"/>
                        <a:t>IEEE ACCESS,2024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err="1">
                          <a:latin typeface="Times New Roman" panose="02020603050405020304" pitchFamily="18" charset="0"/>
                          <a:cs typeface="Times New Roman" panose="02020603050405020304" pitchFamily="18" charset="0"/>
                        </a:rPr>
                        <a:t>ConvNeXtLarge</a:t>
                      </a:r>
                      <a:r>
                        <a:rPr lang="en-US" sz="1400" dirty="0">
                          <a:latin typeface="Times New Roman" panose="02020603050405020304" pitchFamily="18" charset="0"/>
                          <a:cs typeface="Times New Roman" panose="02020603050405020304" pitchFamily="18" charset="0"/>
                        </a:rPr>
                        <a:t>, CNN+LSTM, YOLOv8</a:t>
                      </a:r>
                    </a:p>
                    <a:p>
                      <a:pPr algn="ctr"/>
                      <a:r>
                        <a:rPr lang="en-US" sz="1400" dirty="0">
                          <a:latin typeface="Times New Roman" panose="02020603050405020304" pitchFamily="18" charset="0"/>
                          <a:cs typeface="Times New Roman" panose="02020603050405020304" pitchFamily="18" charset="0"/>
                        </a:rPr>
                        <a:t>Image resize, RGB conversion, padding, augmentation, tokenization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err="1">
                          <a:latin typeface="Times New Roman" panose="02020603050405020304" pitchFamily="18" charset="0"/>
                          <a:cs typeface="Times New Roman" panose="02020603050405020304" pitchFamily="18" charset="0"/>
                        </a:rPr>
                        <a:t>ConvNeXtLarge</a:t>
                      </a:r>
                      <a:r>
                        <a:rPr lang="en-US" sz="1400" dirty="0">
                          <a:latin typeface="Times New Roman" panose="02020603050405020304" pitchFamily="18" charset="0"/>
                          <a:cs typeface="Times New Roman" panose="02020603050405020304" pitchFamily="18" charset="0"/>
                        </a:rPr>
                        <a:t> BLEU-1: 0.983, real-time captioning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b="0" dirty="0">
                          <a:solidFill>
                            <a:schemeClr val="tx1">
                              <a:lumMod val="95000"/>
                              <a:lumOff val="5000"/>
                            </a:schemeClr>
                          </a:solidFill>
                          <a:latin typeface="Times New Roman" panose="02020603050405020304" pitchFamily="18" charset="0"/>
                          <a:cs typeface="Times New Roman" panose="02020603050405020304" pitchFamily="18" charset="0"/>
                        </a:rPr>
                        <a:t>Lack of diverse datasets, cluttered images, no hardware implementation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476378">
                <a:tc>
                  <a:txBody>
                    <a:bodyPr/>
                    <a:lstStyle/>
                    <a:p>
                      <a:pPr algn="ctr"/>
                      <a:r>
                        <a:rPr lang="en-US" sz="140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Synthesis of 3D MRI Brain Images With Shape and Texture Generative Adversarial DNN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Tatt Wei Ho </a:t>
                      </a:r>
                      <a:r>
                        <a:rPr lang="da-DK" sz="1400" dirty="0"/>
                        <a:t>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IEEE Access,2024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Super-Resolution GAN, Pix2Pix GAN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Split GANs for shape/texture improved 3D image synthesis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latin typeface="Times New Roman" panose="02020603050405020304" pitchFamily="18" charset="0"/>
                          <a:cs typeface="Times New Roman" panose="02020603050405020304" pitchFamily="18" charset="0"/>
                        </a:rPr>
                        <a:t>Difficulty in high-res GAN convergence, reliance on templates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077981" y="747551"/>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1543585575"/>
              </p:ext>
            </p:extLst>
          </p:nvPr>
        </p:nvGraphicFramePr>
        <p:xfrm>
          <a:off x="487566" y="1397041"/>
          <a:ext cx="11250343" cy="4632595"/>
        </p:xfrm>
        <a:graphic>
          <a:graphicData uri="http://schemas.openxmlformats.org/drawingml/2006/table">
            <a:tbl>
              <a:tblPr firstRow="1" bandRow="1">
                <a:tableStyleId>{17292A2E-F333-43FB-9621-5CBBE7FDCDCB}</a:tableStyleId>
              </a:tblPr>
              <a:tblGrid>
                <a:gridCol w="487490">
                  <a:extLst>
                    <a:ext uri="{9D8B030D-6E8A-4147-A177-3AD203B41FA5}">
                      <a16:colId xmlns:a16="http://schemas.microsoft.com/office/drawing/2014/main" val="166576671"/>
                    </a:ext>
                  </a:extLst>
                </a:gridCol>
                <a:gridCol w="2165559">
                  <a:extLst>
                    <a:ext uri="{9D8B030D-6E8A-4147-A177-3AD203B41FA5}">
                      <a16:colId xmlns:a16="http://schemas.microsoft.com/office/drawing/2014/main" val="946789180"/>
                    </a:ext>
                  </a:extLst>
                </a:gridCol>
                <a:gridCol w="1684005">
                  <a:extLst>
                    <a:ext uri="{9D8B030D-6E8A-4147-A177-3AD203B41FA5}">
                      <a16:colId xmlns:a16="http://schemas.microsoft.com/office/drawing/2014/main" val="3483638722"/>
                    </a:ext>
                  </a:extLst>
                </a:gridCol>
                <a:gridCol w="1737188">
                  <a:extLst>
                    <a:ext uri="{9D8B030D-6E8A-4147-A177-3AD203B41FA5}">
                      <a16:colId xmlns:a16="http://schemas.microsoft.com/office/drawing/2014/main" val="1190061112"/>
                    </a:ext>
                  </a:extLst>
                </a:gridCol>
                <a:gridCol w="1793876">
                  <a:extLst>
                    <a:ext uri="{9D8B030D-6E8A-4147-A177-3AD203B41FA5}">
                      <a16:colId xmlns:a16="http://schemas.microsoft.com/office/drawing/2014/main" val="3469305604"/>
                    </a:ext>
                  </a:extLst>
                </a:gridCol>
                <a:gridCol w="1760590">
                  <a:extLst>
                    <a:ext uri="{9D8B030D-6E8A-4147-A177-3AD203B41FA5}">
                      <a16:colId xmlns:a16="http://schemas.microsoft.com/office/drawing/2014/main" val="3853106642"/>
                    </a:ext>
                  </a:extLst>
                </a:gridCol>
                <a:gridCol w="1621635">
                  <a:extLst>
                    <a:ext uri="{9D8B030D-6E8A-4147-A177-3AD203B41FA5}">
                      <a16:colId xmlns:a16="http://schemas.microsoft.com/office/drawing/2014/main" val="1601472594"/>
                    </a:ext>
                  </a:extLst>
                </a:gridCol>
              </a:tblGrid>
              <a:tr h="553227">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345537">
                <a:tc>
                  <a:txBody>
                    <a:bodyPr/>
                    <a:lstStyle/>
                    <a:p>
                      <a:pPr algn="ctr"/>
                      <a:r>
                        <a:rPr lang="en-US" sz="1400"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From Street Photos to Fashion Trends: Leveraging Noisy Labels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Huang F-H.,</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IEEE Access ,2021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t>multi-task deep learning framework (FARNet) </a:t>
                      </a:r>
                      <a:r>
                        <a:rPr lang="en-US" sz="1400" dirty="0"/>
                        <a:t>combining </a:t>
                      </a:r>
                      <a:r>
                        <a:rPr lang="en-US" sz="1400" b="0" dirty="0"/>
                        <a:t>CNN-based feature extraction </a:t>
                      </a:r>
                      <a:r>
                        <a:rPr lang="en-US" sz="1400" dirty="0"/>
                        <a:t>with a </a:t>
                      </a:r>
                      <a:r>
                        <a:rPr lang="en-US" sz="1400" b="0" dirty="0"/>
                        <a:t>noise correction </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t>(FARNet) </a:t>
                      </a:r>
                      <a:r>
                        <a:rPr lang="en-US" sz="1400" dirty="0"/>
                        <a:t>capable of fast and accurate fashion attribute recognition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b="0" dirty="0">
                          <a:solidFill>
                            <a:schemeClr val="tx1">
                              <a:lumMod val="95000"/>
                              <a:lumOff val="5000"/>
                            </a:schemeClr>
                          </a:solidFill>
                          <a:latin typeface="Times New Roman" panose="02020603050405020304" pitchFamily="18" charset="0"/>
                          <a:cs typeface="Times New Roman" panose="02020603050405020304" pitchFamily="18" charset="0"/>
                        </a:rPr>
                        <a:t>limited to Asian street fashion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310275">
                <a:tc>
                  <a:txBody>
                    <a:bodyPr/>
                    <a:lstStyle/>
                    <a:p>
                      <a:pPr algn="ctr"/>
                      <a:r>
                        <a:rPr lang="en-US" sz="1400"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Deep Learning Approaches for Fashion Knowledge Extraction From Social Media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Marco Mameli</a:t>
                      </a:r>
                    </a:p>
                    <a:p>
                      <a:pPr algn="ctr"/>
                      <a:r>
                        <a:rPr lang="en-IN" sz="1400" dirty="0"/>
                        <a:t>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IEEE Access/ 2021</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CNNS,RNN,LSTM,GANS,YOLO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CNN and GAN models providing high precision in visual understanding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 Handling noisy or incomplete social media data, domain adaptation, multimodal data fusion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r h="1310275">
                <a:tc>
                  <a:txBody>
                    <a:bodyPr/>
                    <a:lstStyle/>
                    <a:p>
                      <a:pPr algn="ctr"/>
                      <a:r>
                        <a:rPr lang="en-US" sz="1400"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Deep Learning Approaches for Fashion Knowledge Extraction From Social Media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dirty="0"/>
                        <a:t>Mameli</a:t>
                      </a:r>
                      <a:r>
                        <a:rPr lang="fr-FR" sz="1400" dirty="0"/>
                        <a:t> et al., </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dirty="0">
                          <a:latin typeface="Times New Roman" panose="02020603050405020304" pitchFamily="18" charset="0"/>
                          <a:cs typeface="Times New Roman" panose="02020603050405020304" pitchFamily="18" charset="0"/>
                        </a:rPr>
                        <a:t>IEEE Access,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(CNNs, R-CNN/YOLO variants, CNN+RNN, attention mechanisms)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DL methods , attribute recognition, parsing, retrieval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Font typeface="Arial" panose="020B0604020202020204" pitchFamily="34" charset="0"/>
                        <a:buNone/>
                      </a:pPr>
                      <a:r>
                        <a:rPr lang="en-US" sz="1400" dirty="0"/>
                        <a:t>shortage of large, annotated </a:t>
                      </a:r>
                      <a:r>
                        <a:rPr lang="en-US" sz="1400" i="1" dirty="0"/>
                        <a:t>in-the-wild</a:t>
                      </a:r>
                      <a:r>
                        <a:rPr lang="en-US" sz="1400" dirty="0"/>
                        <a:t> social-media fashion dataset</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3099921"/>
                  </a:ext>
                </a:extLst>
              </a:tr>
            </a:tbl>
          </a:graphicData>
        </a:graphic>
      </p:graphicFrame>
    </p:spTree>
    <p:extLst>
      <p:ext uri="{BB962C8B-B14F-4D97-AF65-F5344CB8AC3E}">
        <p14:creationId xmlns:p14="http://schemas.microsoft.com/office/powerpoint/2010/main" val="93840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571018" y="381884"/>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BE2094F6-6B6B-D2FF-81FA-54C2FE5D704D}"/>
              </a:ext>
            </a:extLst>
          </p:cNvPr>
          <p:cNvSpPr>
            <a:spLocks noGrp="1" noChangeArrowheads="1"/>
          </p:cNvSpPr>
          <p:nvPr>
            <p:ph idx="1"/>
          </p:nvPr>
        </p:nvSpPr>
        <p:spPr bwMode="auto">
          <a:xfrm>
            <a:off x="571018" y="1422099"/>
            <a:ext cx="10782783" cy="4464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FontTx/>
              <a:buChar char="•"/>
            </a:pPr>
            <a:r>
              <a:rPr lang="en-US" sz="2400" b="1" dirty="0"/>
              <a:t>Lack of integration</a:t>
            </a:r>
            <a:r>
              <a:rPr lang="en-US" sz="2400" dirty="0"/>
              <a:t> – Image and text tasks are handled separately instead of a unified framework.</a:t>
            </a:r>
            <a:br>
              <a:rPr lang="en-US" sz="2400" dirty="0"/>
            </a:br>
            <a:r>
              <a:rPr lang="en-US" sz="2400" b="1" dirty="0"/>
              <a:t>Poor generalization</a:t>
            </a:r>
            <a:r>
              <a:rPr lang="en-US" sz="2400" dirty="0"/>
              <a:t> – Models struggle with varied lighting, poses, and apparel textures.</a:t>
            </a:r>
            <a:br>
              <a:rPr lang="en-US" sz="2400" dirty="0"/>
            </a:br>
            <a:r>
              <a:rPr lang="en-US" sz="2400" b="1" dirty="0"/>
              <a:t>High complexity</a:t>
            </a:r>
            <a:r>
              <a:rPr lang="en-US" sz="2400" dirty="0"/>
              <a:t> – Deep models demand heavy computation, limiting real-time use.</a:t>
            </a:r>
            <a:br>
              <a:rPr lang="en-US" sz="2400" dirty="0"/>
            </a:br>
            <a:r>
              <a:rPr lang="en-US" sz="2400" b="1" dirty="0"/>
              <a:t>Low interpretability</a:t>
            </a:r>
            <a:r>
              <a:rPr lang="en-US" sz="2400" dirty="0"/>
              <a:t> – Limited explainability reduces user trust in generated captions.</a:t>
            </a:r>
            <a:br>
              <a:rPr lang="en-US" sz="2400" dirty="0"/>
            </a:br>
            <a:r>
              <a:rPr lang="en-US" sz="2400" b="1" dirty="0"/>
              <a:t>Data reliance</a:t>
            </a:r>
            <a:r>
              <a:rPr lang="en-US" sz="2400" dirty="0"/>
              <a:t> – Dependence on clean datasets restricts performance on real-world fashion data.</a:t>
            </a: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316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777551" y="1426974"/>
            <a:ext cx="10515600" cy="4351338"/>
          </a:xfrm>
        </p:spPr>
        <p:txBody>
          <a:bodyPr>
            <a:normAutofit/>
          </a:bodyPr>
          <a:lstStyle/>
          <a:p>
            <a:pPr>
              <a:lnSpc>
                <a:spcPct val="150000"/>
              </a:lnSpc>
            </a:pPr>
            <a:r>
              <a:rPr lang="en-US" sz="2000" dirty="0"/>
              <a:t>Accurate apparel image and video captioning is challenging due to variations in lighting, pose, and complex clothing patterns. This project proposes a deep learning-based multimodal framework using </a:t>
            </a:r>
            <a:r>
              <a:rPr lang="en-US" sz="2000" dirty="0" err="1"/>
              <a:t>ConvNeXt</a:t>
            </a:r>
            <a:r>
              <a:rPr lang="en-US" sz="2000" dirty="0"/>
              <a:t> and attention</a:t>
            </a:r>
            <a:r>
              <a:rPr lang="en-US" sz="2000" b="1" dirty="0"/>
              <a:t> </a:t>
            </a:r>
            <a:r>
              <a:rPr lang="en-US" sz="2000" dirty="0"/>
              <a:t>optimization for automated, real-time, and context-aware apparel description generation.</a:t>
            </a:r>
          </a:p>
          <a:p>
            <a:pPr>
              <a:lnSpc>
                <a:spcPct val="150000"/>
              </a:lnSpc>
            </a:pPr>
            <a:r>
              <a:rPr lang="en-US" sz="2000" b="1" dirty="0"/>
              <a:t>Key Challenges:</a:t>
            </a:r>
          </a:p>
          <a:p>
            <a:pPr>
              <a:lnSpc>
                <a:spcPct val="150000"/>
              </a:lnSpc>
            </a:pPr>
            <a:r>
              <a:rPr lang="en-US" sz="2000" dirty="0"/>
              <a:t>Variation in apparel styles and lighting conditions.</a:t>
            </a:r>
          </a:p>
          <a:p>
            <a:pPr>
              <a:lnSpc>
                <a:spcPct val="150000"/>
              </a:lnSpc>
            </a:pPr>
            <a:r>
              <a:rPr lang="en-US" sz="2000" dirty="0"/>
              <a:t>Complex clothing textures and overlapping garments.</a:t>
            </a:r>
          </a:p>
          <a:p>
            <a:pPr>
              <a:lnSpc>
                <a:spcPct val="150000"/>
              </a:lnSpc>
            </a:pPr>
            <a:r>
              <a:rPr lang="en-US" sz="2000" dirty="0"/>
              <a:t>Limited availability of diverse and labeled fashion datasets.</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7F97274D-A7AB-0AF5-845E-E2DFA430DCD6}"/>
              </a:ext>
            </a:extLst>
          </p:cNvPr>
          <p:cNvSpPr>
            <a:spLocks noGrp="1" noChangeArrowheads="1"/>
          </p:cNvSpPr>
          <p:nvPr>
            <p:ph idx="1"/>
          </p:nvPr>
        </p:nvSpPr>
        <p:spPr bwMode="auto">
          <a:xfrm>
            <a:off x="1010653" y="991026"/>
            <a:ext cx="10716126" cy="5113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develop a deep learning-based multimodal framework for accurate apparel image and video caption generation.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utilize </a:t>
            </a:r>
            <a:r>
              <a:rPr kumimoji="0" lang="en-US" altLang="en-US" sz="2000" i="0" u="none" strike="noStrike" cap="none" normalizeH="0" baseline="0" dirty="0" err="1">
                <a:ln>
                  <a:noFill/>
                </a:ln>
                <a:solidFill>
                  <a:schemeClr val="tx1"/>
                </a:solidFill>
                <a:effectLst/>
                <a:latin typeface="Arial" panose="020B0604020202020204" pitchFamily="34" charset="0"/>
              </a:rPr>
              <a:t>ConvNeXt</a:t>
            </a:r>
            <a:r>
              <a:rPr kumimoji="0" lang="en-US" altLang="en-US" sz="2000" i="0" u="none" strike="noStrike" cap="none" normalizeH="0" baseline="0" dirty="0">
                <a:ln>
                  <a:noFill/>
                </a:ln>
                <a:solidFill>
                  <a:schemeClr val="tx1"/>
                </a:solidFill>
                <a:effectLst/>
                <a:latin typeface="Arial" panose="020B0604020202020204" pitchFamily="34" charset="0"/>
              </a:rPr>
              <a:t> for efficient and high-accuracy apparel feature extraction.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apply an attention optimization mechanism for precise identification of key apparel    regions.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enhance image quality through preprocessing techniques such as resizing, normalization, and CLAHE.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achieve high model performance in terms of caption accuracy, precision, recall, and BLEU score across multiple apparel categories.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Arial" panose="020B0604020202020204" pitchFamily="34" charset="0"/>
              </a:rPr>
              <a:t>To design a lightweight and real-time model suitable for deployment on mobile and edge devices for smart fashion and e-commerce applications.</a:t>
            </a:r>
          </a:p>
        </p:txBody>
      </p:sp>
    </p:spTree>
    <p:extLst>
      <p:ext uri="{BB962C8B-B14F-4D97-AF65-F5344CB8AC3E}">
        <p14:creationId xmlns:p14="http://schemas.microsoft.com/office/powerpoint/2010/main" val="11212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3950048" y="0"/>
            <a:ext cx="7489282" cy="605258"/>
          </a:xfrm>
        </p:spPr>
        <p:txBody>
          <a:bodyPr>
            <a:normAutofit/>
          </a:bodyPr>
          <a:lstStyle/>
          <a:p>
            <a:pPr algn="ctr"/>
            <a:r>
              <a:rPr lang="en-US" sz="2800" b="1" dirty="0">
                <a:latin typeface="Times New Roman" panose="02020603050405020304" pitchFamily="18" charset="0"/>
                <a:cs typeface="Times New Roman" panose="02020603050405020304" pitchFamily="18" charset="0"/>
              </a:rPr>
              <a:t>BLOCK DIAGRAM OR FLOW DIAGRAM</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2" name="Image 5">
            <a:extLst>
              <a:ext uri="{FF2B5EF4-FFF2-40B4-BE49-F238E27FC236}">
                <a16:creationId xmlns:a16="http://schemas.microsoft.com/office/drawing/2014/main" id="{F6039462-6290-E782-208F-7E73396329F4}"/>
              </a:ext>
            </a:extLst>
          </p:cNvPr>
          <p:cNvPicPr>
            <a:picLocks/>
          </p:cNvPicPr>
          <p:nvPr/>
        </p:nvPicPr>
        <p:blipFill>
          <a:blip r:embed="rId2" cstate="print"/>
          <a:stretch>
            <a:fillRect/>
          </a:stretch>
        </p:blipFill>
        <p:spPr>
          <a:xfrm>
            <a:off x="4240530" y="1558289"/>
            <a:ext cx="3989070" cy="4096061"/>
          </a:xfrm>
          <a:prstGeom prst="rect">
            <a:avLst/>
          </a:prstGeom>
        </p:spPr>
      </p:pic>
    </p:spTree>
    <p:extLst>
      <p:ext uri="{BB962C8B-B14F-4D97-AF65-F5344CB8AC3E}">
        <p14:creationId xmlns:p14="http://schemas.microsoft.com/office/powerpoint/2010/main" val="213702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1180617" y="1773374"/>
            <a:ext cx="10016117" cy="3596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IN" sz="2400" b="1" dirty="0"/>
              <a:t>Preprocessing Steps:</a:t>
            </a:r>
            <a:endParaRPr lang="en-IN" sz="2400" dirty="0"/>
          </a:p>
          <a:p>
            <a:r>
              <a:rPr lang="en-IN" sz="2400" dirty="0"/>
              <a:t>Resize all apparel images and video frames to 224×224 pixels for uniform input dimensions.</a:t>
            </a:r>
          </a:p>
          <a:p>
            <a:r>
              <a:rPr lang="en-IN" sz="2400" dirty="0"/>
              <a:t>Apply Contrast Limited Adaptive Histogram Equalization (CLAHE) to improve brightness and highlight fabric details.</a:t>
            </a:r>
          </a:p>
          <a:p>
            <a:r>
              <a:rPr lang="en-IN" sz="2400" dirty="0"/>
              <a:t>Perform Image Enhancement to refine texture, </a:t>
            </a:r>
            <a:r>
              <a:rPr lang="en-IN" sz="2400" dirty="0" err="1"/>
              <a:t>color</a:t>
            </a:r>
            <a:r>
              <a:rPr lang="en-IN" sz="2400" dirty="0"/>
              <a:t>, and edge quality for better feature extraction.</a:t>
            </a:r>
          </a:p>
          <a:p>
            <a:r>
              <a:rPr lang="en-IN" sz="2400" dirty="0"/>
              <a:t>Use Normalization (0–1 scaling) to stabilize pixel intensity and optimize model convergence.</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14885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352925" y="1124401"/>
            <a:ext cx="7204871" cy="541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err="1"/>
              <a:t>ConvNeXt</a:t>
            </a:r>
            <a:r>
              <a:rPr lang="en-US" sz="2400" dirty="0"/>
              <a:t>-Large used as a visual encoder for apparel image feature extraction.</a:t>
            </a:r>
            <a:br>
              <a:rPr lang="en-US" sz="2400" dirty="0"/>
            </a:br>
            <a:r>
              <a:rPr lang="en-US" sz="2400" dirty="0"/>
              <a:t>LSTM decoder employed for sequential caption generation from extracted features.</a:t>
            </a:r>
            <a:br>
              <a:rPr lang="en-US" sz="2400" dirty="0"/>
            </a:br>
            <a:r>
              <a:rPr lang="en-US" sz="2400" dirty="0"/>
              <a:t>Preprocessing applied to clean and resize apparel images and tokenize captions.</a:t>
            </a:r>
            <a:br>
              <a:rPr lang="en-US" sz="2400" dirty="0"/>
            </a:br>
            <a:r>
              <a:rPr lang="en-US" sz="2400" dirty="0"/>
              <a:t>YOLOv8 integrated for precise apparel region detection and cropping (optional).</a:t>
            </a:r>
            <a:br>
              <a:rPr lang="en-US" sz="2400" dirty="0"/>
            </a:br>
            <a:r>
              <a:rPr lang="en-US" sz="2400" dirty="0"/>
              <a:t>Data Augmentation (rotation, flipping, scaling) enhances model generalization.</a:t>
            </a:r>
            <a:br>
              <a:rPr lang="en-US" sz="2400" dirty="0"/>
            </a:br>
            <a:r>
              <a:rPr lang="en-US" sz="2400" dirty="0"/>
              <a:t>Trained on filtered apparel dataset with manually written descriptive captions.</a:t>
            </a:r>
            <a:br>
              <a:rPr lang="en-US" sz="2400" dirty="0"/>
            </a:br>
            <a:r>
              <a:rPr lang="en-US" sz="2400" dirty="0"/>
              <a:t>Evaluation Metrics such as BLEU-1, BLEU-2, BLEU-3, and BLEU-4 used to assess caption quality.</a:t>
            </a:r>
            <a:br>
              <a:rPr lang="en-US" sz="2400" dirty="0"/>
            </a:br>
            <a:r>
              <a:rPr lang="en-US" sz="2400" dirty="0"/>
              <a:t>Deployment on web/mobile platforms enables real-time apparel image and video captioning.</a:t>
            </a:r>
            <a:endParaRPr lang="en-IN" sz="2400" dirty="0"/>
          </a:p>
        </p:txBody>
      </p:sp>
      <p:sp>
        <p:nvSpPr>
          <p:cNvPr id="12" name="TextBox 11">
            <a:extLst>
              <a:ext uri="{FF2B5EF4-FFF2-40B4-BE49-F238E27FC236}">
                <a16:creationId xmlns:a16="http://schemas.microsoft.com/office/drawing/2014/main" id="{FB37DFB0-2EB0-9E18-4671-DCB4693D458D}"/>
              </a:ext>
            </a:extLst>
          </p:cNvPr>
          <p:cNvSpPr txBox="1"/>
          <p:nvPr/>
        </p:nvSpPr>
        <p:spPr>
          <a:xfrm>
            <a:off x="352926" y="587829"/>
            <a:ext cx="5572014"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METHODOLOGY</a:t>
            </a:r>
            <a:endParaRPr lang="en-IN" sz="3600" dirty="0"/>
          </a:p>
        </p:txBody>
      </p:sp>
      <p:pic>
        <p:nvPicPr>
          <p:cNvPr id="3" name="Picture 2">
            <a:extLst>
              <a:ext uri="{FF2B5EF4-FFF2-40B4-BE49-F238E27FC236}">
                <a16:creationId xmlns:a16="http://schemas.microsoft.com/office/drawing/2014/main" id="{3739F4FB-F20C-F444-811A-C54855063D75}"/>
              </a:ext>
            </a:extLst>
          </p:cNvPr>
          <p:cNvPicPr>
            <a:picLocks noChangeAspect="1"/>
          </p:cNvPicPr>
          <p:nvPr/>
        </p:nvPicPr>
        <p:blipFill>
          <a:blip r:embed="rId2"/>
          <a:stretch>
            <a:fillRect/>
          </a:stretch>
        </p:blipFill>
        <p:spPr>
          <a:xfrm>
            <a:off x="8019620" y="346232"/>
            <a:ext cx="3379278" cy="5849795"/>
          </a:xfrm>
          <a:prstGeom prst="rect">
            <a:avLst/>
          </a:prstGeom>
        </p:spPr>
      </p:pic>
    </p:spTree>
    <p:extLst>
      <p:ext uri="{BB962C8B-B14F-4D97-AF65-F5344CB8AC3E}">
        <p14:creationId xmlns:p14="http://schemas.microsoft.com/office/powerpoint/2010/main" val="294459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3357465" y="0"/>
            <a:ext cx="6858000" cy="745866"/>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BB10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E11839D7-C322-78C3-230F-3B6D4C28B0D0}"/>
              </a:ext>
            </a:extLst>
          </p:cNvPr>
          <p:cNvSpPr>
            <a:spLocks noGrp="1" noChangeArrowheads="1"/>
          </p:cNvSpPr>
          <p:nvPr>
            <p:ph idx="1"/>
          </p:nvPr>
        </p:nvSpPr>
        <p:spPr bwMode="auto">
          <a:xfrm>
            <a:off x="590309" y="3225839"/>
            <a:ext cx="1089177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endParaRPr lang="en-US" altLang="en-US" sz="18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68B8C212-FE6D-E5E2-F90B-DF4ABF671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465" y="1625327"/>
            <a:ext cx="6028732" cy="3458058"/>
          </a:xfrm>
          <a:prstGeom prst="rect">
            <a:avLst/>
          </a:prstGeom>
        </p:spPr>
      </p:pic>
    </p:spTree>
    <p:extLst>
      <p:ext uri="{BB962C8B-B14F-4D97-AF65-F5344CB8AC3E}">
        <p14:creationId xmlns:p14="http://schemas.microsoft.com/office/powerpoint/2010/main" val="509708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577971" y="934668"/>
            <a:ext cx="9144000" cy="88251"/>
          </a:xfrm>
        </p:spPr>
        <p:txBody>
          <a:bodyPr>
            <a:noAutofit/>
          </a:bodyPr>
          <a:lstStyle/>
          <a:p>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t>
            </a: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Framework Used: </a:t>
            </a:r>
            <a:r>
              <a:rPr lang="en-IN" sz="2400" b="1" dirty="0" err="1">
                <a:latin typeface="Times New Roman" panose="02020603050405020304" pitchFamily="18" charset="0"/>
                <a:cs typeface="Times New Roman" panose="02020603050405020304" pitchFamily="18" charset="0"/>
              </a:rPr>
              <a:t>ConvNeXt</a:t>
            </a:r>
            <a:r>
              <a:rPr lang="en-IN" sz="2400" b="1" dirty="0">
                <a:latin typeface="Times New Roman" panose="02020603050405020304" pitchFamily="18" charset="0"/>
                <a:cs typeface="Times New Roman" panose="02020603050405020304" pitchFamily="18" charset="0"/>
              </a:rPr>
              <a:t>–LSTM</a:t>
            </a:r>
          </a:p>
        </p:txBody>
      </p:sp>
      <p:sp>
        <p:nvSpPr>
          <p:cNvPr id="11" name="Subtitle 10"/>
          <p:cNvSpPr>
            <a:spLocks noGrp="1"/>
          </p:cNvSpPr>
          <p:nvPr>
            <p:ph type="subTitle" idx="1"/>
          </p:nvPr>
        </p:nvSpPr>
        <p:spPr>
          <a:xfrm>
            <a:off x="1524000" y="978794"/>
            <a:ext cx="10208654" cy="5125792"/>
          </a:xfrm>
        </p:spPr>
        <p:txBody>
          <a:bodyPr>
            <a:normAutofit/>
          </a:bodyPr>
          <a:lstStyle/>
          <a:p>
            <a:pPr algn="l"/>
            <a:endParaRPr lang="en-US" sz="2200" b="1" dirty="0">
              <a:latin typeface="Times New Roman" panose="02020603050405020304" pitchFamily="18" charset="0"/>
              <a:cs typeface="Times New Roman" panose="02020603050405020304" pitchFamily="18" charset="0"/>
            </a:endParaRPr>
          </a:p>
          <a:p>
            <a:pPr algn="l"/>
            <a:r>
              <a:rPr lang="en-US" altLang="en-US" sz="2000" b="1" dirty="0">
                <a:latin typeface="Arial" panose="020B0604020202020204" pitchFamily="34" charset="0"/>
              </a:rPr>
              <a:t> </a:t>
            </a:r>
            <a:r>
              <a:rPr lang="en-US" sz="2000" b="1" dirty="0"/>
              <a:t>Why </a:t>
            </a:r>
            <a:r>
              <a:rPr lang="en-US" sz="2000" b="1" dirty="0" err="1"/>
              <a:t>ConvNeXt</a:t>
            </a:r>
            <a:r>
              <a:rPr lang="en-US" sz="2000" b="1" dirty="0"/>
              <a:t>?</a:t>
            </a:r>
          </a:p>
          <a:p>
            <a:pPr lvl="0" algn="l" eaLnBrk="0" fontAlgn="base" hangingPunct="0">
              <a:lnSpc>
                <a:spcPct val="100000"/>
              </a:lnSpc>
              <a:spcBef>
                <a:spcPct val="0"/>
              </a:spcBef>
              <a:spcAft>
                <a:spcPct val="0"/>
              </a:spcAft>
              <a:buFontTx/>
              <a:buChar char="•"/>
            </a:pPr>
            <a:r>
              <a:rPr lang="en-US" sz="2000" b="1" dirty="0"/>
              <a:t>High Accuracy:</a:t>
            </a:r>
            <a:r>
              <a:rPr lang="en-US" sz="2000" dirty="0"/>
              <a:t> </a:t>
            </a:r>
            <a:r>
              <a:rPr lang="en-US" sz="2000" dirty="0" err="1"/>
              <a:t>ConvNeXt</a:t>
            </a:r>
            <a:r>
              <a:rPr lang="en-US" sz="2000" dirty="0"/>
              <a:t> delivers strong visual understanding with minimal computational overhead.</a:t>
            </a:r>
          </a:p>
          <a:p>
            <a:pPr lvl="0" algn="l" eaLnBrk="0" fontAlgn="base" hangingPunct="0">
              <a:lnSpc>
                <a:spcPct val="100000"/>
              </a:lnSpc>
              <a:spcBef>
                <a:spcPct val="0"/>
              </a:spcBef>
              <a:spcAft>
                <a:spcPct val="0"/>
              </a:spcAft>
              <a:buFontTx/>
              <a:buChar char="•"/>
            </a:pPr>
            <a:r>
              <a:rPr lang="en-US" sz="2000" b="1" dirty="0"/>
              <a:t>Lightweight Architecture:</a:t>
            </a:r>
            <a:r>
              <a:rPr lang="en-US" sz="2000" dirty="0"/>
              <a:t> Suitable for real-time and mobile deployment in fashion and e-commerce platforms.</a:t>
            </a:r>
          </a:p>
          <a:p>
            <a:pPr lvl="0" algn="l" eaLnBrk="0" fontAlgn="base" hangingPunct="0">
              <a:lnSpc>
                <a:spcPct val="100000"/>
              </a:lnSpc>
              <a:spcBef>
                <a:spcPct val="0"/>
              </a:spcBef>
              <a:spcAft>
                <a:spcPct val="0"/>
              </a:spcAft>
              <a:buFontTx/>
              <a:buChar char="•"/>
            </a:pPr>
            <a:r>
              <a:rPr lang="en-US" sz="2000" b="1" dirty="0"/>
              <a:t>Efficient Feature Extraction:</a:t>
            </a:r>
            <a:r>
              <a:rPr lang="en-US" sz="2000" dirty="0"/>
              <a:t> Captures fine apparel details such as texture, pattern, and fabric type effectively.</a:t>
            </a:r>
          </a:p>
          <a:p>
            <a:pPr lvl="0" algn="l" eaLnBrk="0" fontAlgn="base" hangingPunct="0">
              <a:lnSpc>
                <a:spcPct val="100000"/>
              </a:lnSpc>
              <a:spcBef>
                <a:spcPct val="0"/>
              </a:spcBef>
              <a:spcAft>
                <a:spcPct val="0"/>
              </a:spcAft>
              <a:buFontTx/>
              <a:buChar char="•"/>
            </a:pPr>
            <a:r>
              <a:rPr lang="en-US" sz="2000" b="1" dirty="0"/>
              <a:t>Enhanced Caption Quality:</a:t>
            </a:r>
            <a:r>
              <a:rPr lang="en-US" sz="2000" dirty="0"/>
              <a:t> Attention mechanism improves context relevance and description precision.</a:t>
            </a:r>
          </a:p>
          <a:p>
            <a:pPr lvl="0" algn="l" eaLnBrk="0" fontAlgn="base" hangingPunct="0">
              <a:lnSpc>
                <a:spcPct val="100000"/>
              </a:lnSpc>
              <a:spcBef>
                <a:spcPct val="0"/>
              </a:spcBef>
              <a:spcAft>
                <a:spcPct val="0"/>
              </a:spcAft>
              <a:buFontTx/>
              <a:buChar char="•"/>
            </a:pPr>
            <a:r>
              <a:rPr lang="en-US" sz="2000" b="1" dirty="0"/>
              <a:t>Better Generalization:</a:t>
            </a:r>
            <a:r>
              <a:rPr lang="en-US" sz="2000" dirty="0"/>
              <a:t> Performs consistently across diverse clothing styles, lighting, and background conditions.</a:t>
            </a:r>
          </a:p>
          <a:p>
            <a:pPr lvl="0" algn="l" eaLnBrk="0" fontAlgn="base" hangingPunct="0">
              <a:lnSpc>
                <a:spcPct val="100000"/>
              </a:lnSpc>
              <a:spcBef>
                <a:spcPct val="0"/>
              </a:spcBef>
              <a:spcAft>
                <a:spcPct val="0"/>
              </a:spcAft>
              <a:buFontTx/>
              <a:buChar char="•"/>
            </a:pPr>
            <a:r>
              <a:rPr lang="en-US" sz="2000" b="1" dirty="0"/>
              <a:t>Reduced Training Time:</a:t>
            </a:r>
            <a:r>
              <a:rPr lang="en-US" sz="2000" dirty="0"/>
              <a:t> Optimized design enables faster convergence with fewer computational resources.</a:t>
            </a:r>
          </a:p>
          <a:p>
            <a:pPr algn="l"/>
            <a:endParaRPr lang="en-US" sz="2000" dirty="0"/>
          </a:p>
          <a:p>
            <a:pPr algn="l"/>
            <a:endParaRPr lang="en-US" sz="2000" dirty="0"/>
          </a:p>
          <a:p>
            <a:pPr algn="l"/>
            <a:endParaRPr lang="en-US" sz="2000" dirty="0"/>
          </a:p>
        </p:txBody>
      </p:sp>
      <p:pic>
        <p:nvPicPr>
          <p:cNvPr id="15" name="Picture 14"/>
          <p:cNvPicPr>
            <a:picLocks noChangeAspect="1"/>
          </p:cNvPicPr>
          <p:nvPr/>
        </p:nvPicPr>
        <p:blipFill>
          <a:blip r:embed="rId2"/>
          <a:stretch>
            <a:fillRect/>
          </a:stretch>
        </p:blipFill>
        <p:spPr>
          <a:xfrm>
            <a:off x="0" y="63780"/>
            <a:ext cx="3762900" cy="579027"/>
          </a:xfrm>
          <a:prstGeom prst="rect">
            <a:avLst/>
          </a:prstGeom>
        </p:spPr>
      </p:pic>
    </p:spTree>
    <p:extLst>
      <p:ext uri="{BB962C8B-B14F-4D97-AF65-F5344CB8AC3E}">
        <p14:creationId xmlns:p14="http://schemas.microsoft.com/office/powerpoint/2010/main" val="778118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8706"/>
          </a:xfrm>
        </p:spPr>
        <p:txBody>
          <a:bodyPr>
            <a:normAutofit/>
          </a:bodyPr>
          <a:lstStyle/>
          <a:p>
            <a:pPr algn="ctr"/>
            <a:r>
              <a:rPr lang="en-US" b="1" dirty="0">
                <a:latin typeface="Times New Roman" panose="02020603050405020304" pitchFamily="18" charset="0"/>
                <a:cs typeface="Times New Roman" panose="02020603050405020304" pitchFamily="18" charset="0"/>
              </a:rPr>
              <a:t>Implementation</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15</a:t>
            </a:fld>
            <a:endParaRPr lang="en-IN"/>
          </a:p>
        </p:txBody>
      </p:sp>
      <p:pic>
        <p:nvPicPr>
          <p:cNvPr id="9" name="Content Placeholder 8">
            <a:extLst>
              <a:ext uri="{FF2B5EF4-FFF2-40B4-BE49-F238E27FC236}">
                <a16:creationId xmlns:a16="http://schemas.microsoft.com/office/drawing/2014/main" id="{CCC9A705-74E3-CEF5-E3AA-29A8E6E777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9813" y="1349764"/>
            <a:ext cx="9328519" cy="4351338"/>
          </a:xfrm>
        </p:spPr>
      </p:pic>
    </p:spTree>
    <p:extLst>
      <p:ext uri="{BB962C8B-B14F-4D97-AF65-F5344CB8AC3E}">
        <p14:creationId xmlns:p14="http://schemas.microsoft.com/office/powerpoint/2010/main" val="3365864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7700"/>
            <a:ext cx="10515600" cy="6350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System Requirements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2700"/>
            <a:ext cx="10871200" cy="4894263"/>
          </a:xfrm>
        </p:spPr>
        <p:txBody>
          <a:bodyPr>
            <a:normAutofit fontScale="92500" lnSpcReduction="10000"/>
          </a:bodyPr>
          <a:lstStyle/>
          <a:p>
            <a:pPr>
              <a:buNone/>
              <a:tabLst>
                <a:tab pos="3860800" algn="l"/>
                <a:tab pos="5473700" algn="l"/>
              </a:tabLst>
            </a:pPr>
            <a:r>
              <a:rPr lang="en-US" sz="2600" b="1" dirty="0">
                <a:latin typeface="Times New Roman" panose="02020603050405020304" pitchFamily="18" charset="0"/>
                <a:cs typeface="Times New Roman" panose="02020603050405020304" pitchFamily="18" charset="0"/>
              </a:rPr>
              <a:t>Hardware Requirements</a:t>
            </a:r>
            <a:endParaRPr lang="en-IN" sz="2600" dirty="0">
              <a:latin typeface="Times New Roman" panose="02020603050405020304" pitchFamily="18" charset="0"/>
              <a:cs typeface="Times New Roman" panose="02020603050405020304" pitchFamily="18" charset="0"/>
            </a:endParaRPr>
          </a:p>
          <a:p>
            <a:pPr lvl="0" defTabSz="1041400">
              <a:tabLst>
                <a:tab pos="3860800" algn="l"/>
                <a:tab pos="5473700" algn="l"/>
              </a:tabLst>
            </a:pPr>
            <a:r>
              <a:rPr lang="en-US" sz="2600" dirty="0">
                <a:latin typeface="Times New Roman" panose="02020603050405020304" pitchFamily="18" charset="0"/>
                <a:cs typeface="Times New Roman" panose="02020603050405020304" pitchFamily="18" charset="0"/>
              </a:rPr>
              <a:t>Processor	:	intel Core i5</a:t>
            </a:r>
            <a:endParaRPr lang="en-IN" sz="2600" dirty="0">
              <a:latin typeface="Times New Roman" panose="02020603050405020304" pitchFamily="18" charset="0"/>
              <a:cs typeface="Times New Roman" panose="02020603050405020304" pitchFamily="18" charset="0"/>
            </a:endParaRPr>
          </a:p>
          <a:p>
            <a:pPr lvl="0" defTabSz="1790700">
              <a:tabLst>
                <a:tab pos="3860800" algn="l"/>
                <a:tab pos="5473700" algn="l"/>
              </a:tabLst>
            </a:pPr>
            <a:r>
              <a:rPr lang="en-US" sz="2600" dirty="0">
                <a:latin typeface="Times New Roman" panose="02020603050405020304" pitchFamily="18" charset="0"/>
                <a:cs typeface="Times New Roman" panose="02020603050405020304" pitchFamily="18" charset="0"/>
              </a:rPr>
              <a:t>Cache memory	:	4MB(Megabyte)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RAM	</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12.7GB (gigabyte)</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Hard Disk</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166.8GB</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IN" sz="2600" dirty="0">
                <a:latin typeface="Times New Roman" panose="02020603050405020304" pitchFamily="18" charset="0"/>
                <a:cs typeface="Times New Roman" panose="02020603050405020304" pitchFamily="18" charset="0"/>
              </a:rPr>
              <a:t>Compute Engine      	:	 T4 GPU</a:t>
            </a:r>
          </a:p>
          <a:p>
            <a:pPr lvl="0">
              <a:buNone/>
              <a:tabLst>
                <a:tab pos="3860800" algn="l"/>
                <a:tab pos="5473700" algn="l"/>
              </a:tabLst>
            </a:pPr>
            <a:r>
              <a:rPr lang="en-US" sz="2600" b="1" dirty="0">
                <a:latin typeface="Times New Roman" panose="02020603050405020304" pitchFamily="18" charset="0"/>
                <a:cs typeface="Times New Roman" panose="02020603050405020304" pitchFamily="18" charset="0"/>
              </a:rPr>
              <a:t>Software Requirements</a:t>
            </a:r>
            <a:endParaRPr lang="en-IN" sz="2600" dirty="0">
              <a:latin typeface="Times New Roman" panose="02020603050405020304" pitchFamily="18" charset="0"/>
              <a:cs typeface="Times New Roman" panose="02020603050405020304" pitchFamily="18" charset="0"/>
            </a:endParaRP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Operating System</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Windows 10, 64-bit Operating System</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Coding Language</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Python</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Python distribution</a:t>
            </a:r>
            <a:r>
              <a:rPr lang="en-IN"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 		Google Colab , Flask</a:t>
            </a:r>
            <a:r>
              <a:rPr lang="en-IN" sz="26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600" dirty="0">
                <a:latin typeface="Times New Roman" panose="02020603050405020304" pitchFamily="18" charset="0"/>
                <a:cs typeface="Times New Roman" panose="02020603050405020304" pitchFamily="18" charset="0"/>
              </a:rPr>
              <a:t>Browser	: 	Any Latest Browser like Chrome</a:t>
            </a:r>
            <a:r>
              <a:rPr lang="en-IN" sz="2600" dirty="0">
                <a:latin typeface="Times New Roman" panose="02020603050405020304" pitchFamily="18" charset="0"/>
                <a:cs typeface="Times New Roman" panose="02020603050405020304" pitchFamily="18" charset="0"/>
              </a:rPr>
              <a:t> </a:t>
            </a:r>
          </a:p>
          <a:p>
            <a:endParaRPr lang="en-IN" dirty="0"/>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16</a:t>
            </a:fld>
            <a:endParaRPr lang="en-IN"/>
          </a:p>
        </p:txBody>
      </p:sp>
    </p:spTree>
    <p:extLst>
      <p:ext uri="{BB962C8B-B14F-4D97-AF65-F5344CB8AC3E}">
        <p14:creationId xmlns:p14="http://schemas.microsoft.com/office/powerpoint/2010/main" val="3098497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760" y="-59612"/>
            <a:ext cx="5133392" cy="787400"/>
          </a:xfrm>
        </p:spPr>
        <p:txBody>
          <a:bodyPr>
            <a:normAutofit/>
          </a:bodyPr>
          <a:lstStyle/>
          <a:p>
            <a:r>
              <a:rPr lang="en-US" sz="3200" b="1" dirty="0">
                <a:latin typeface="Times New Roman" panose="02020603050405020304" pitchFamily="18" charset="0"/>
                <a:cs typeface="Times New Roman" panose="02020603050405020304" pitchFamily="18" charset="0"/>
              </a:rPr>
              <a:t>Challenges  Vs Overcomes</a:t>
            </a:r>
            <a:endParaRPr lang="en-IN" sz="32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17</a:t>
            </a:fld>
            <a:endParaRPr lang="en-IN"/>
          </a:p>
        </p:txBody>
      </p:sp>
      <p:graphicFrame>
        <p:nvGraphicFramePr>
          <p:cNvPr id="8" name="Content Placeholder 7">
            <a:extLst>
              <a:ext uri="{FF2B5EF4-FFF2-40B4-BE49-F238E27FC236}">
                <a16:creationId xmlns:a16="http://schemas.microsoft.com/office/drawing/2014/main" id="{0CBF40FB-3CD8-6441-CF67-9D878BF6266E}"/>
              </a:ext>
            </a:extLst>
          </p:cNvPr>
          <p:cNvGraphicFramePr>
            <a:graphicFrameLocks noGrp="1"/>
          </p:cNvGraphicFramePr>
          <p:nvPr>
            <p:ph idx="1"/>
            <p:extLst>
              <p:ext uri="{D42A27DB-BD31-4B8C-83A1-F6EECF244321}">
                <p14:modId xmlns:p14="http://schemas.microsoft.com/office/powerpoint/2010/main" val="2262513638"/>
              </p:ext>
            </p:extLst>
          </p:nvPr>
        </p:nvGraphicFramePr>
        <p:xfrm>
          <a:off x="964941" y="1283368"/>
          <a:ext cx="10262118" cy="4821043"/>
        </p:xfrm>
        <a:graphic>
          <a:graphicData uri="http://schemas.openxmlformats.org/drawingml/2006/table">
            <a:tbl>
              <a:tblPr/>
              <a:tblGrid>
                <a:gridCol w="4953721">
                  <a:extLst>
                    <a:ext uri="{9D8B030D-6E8A-4147-A177-3AD203B41FA5}">
                      <a16:colId xmlns:a16="http://schemas.microsoft.com/office/drawing/2014/main" val="1616132173"/>
                    </a:ext>
                  </a:extLst>
                </a:gridCol>
                <a:gridCol w="5308397">
                  <a:extLst>
                    <a:ext uri="{9D8B030D-6E8A-4147-A177-3AD203B41FA5}">
                      <a16:colId xmlns:a16="http://schemas.microsoft.com/office/drawing/2014/main" val="244272055"/>
                    </a:ext>
                  </a:extLst>
                </a:gridCol>
              </a:tblGrid>
              <a:tr h="419221">
                <a:tc>
                  <a:txBody>
                    <a:bodyPr/>
                    <a:lstStyle/>
                    <a:p>
                      <a:pPr>
                        <a:buNone/>
                      </a:pPr>
                      <a:r>
                        <a:rPr lang="en-IN" b="0"/>
                        <a:t>Challenges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b="0"/>
                        <a:t>Overcomes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3868268"/>
                  </a:ext>
                </a:extLst>
              </a:tr>
              <a:tr h="733637">
                <a:tc>
                  <a:txBody>
                    <a:bodyPr/>
                    <a:lstStyle/>
                    <a:p>
                      <a:pPr>
                        <a:buNone/>
                      </a:pPr>
                      <a:r>
                        <a:rPr lang="en-US" dirty="0"/>
                        <a:t>Variations in lighting, pose, and apparel texture affect caption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Applied CLAHE and image enhancement to improve visual consistency.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3961755"/>
                  </a:ext>
                </a:extLst>
              </a:tr>
              <a:tr h="733637">
                <a:tc>
                  <a:txBody>
                    <a:bodyPr/>
                    <a:lstStyle/>
                    <a:p>
                      <a:pPr>
                        <a:buNone/>
                      </a:pPr>
                      <a:r>
                        <a:rPr lang="en-US" b="0" dirty="0"/>
                        <a:t>Difficulty in identifying key apparel regions in complex backgrounds.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Used attention optimization for precise focus on relevant apparel areas.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6398059"/>
                  </a:ext>
                </a:extLst>
              </a:tr>
              <a:tr h="733637">
                <a:tc>
                  <a:txBody>
                    <a:bodyPr/>
                    <a:lstStyle/>
                    <a:p>
                      <a:pPr>
                        <a:buNone/>
                      </a:pPr>
                      <a:r>
                        <a:rPr lang="en-US" b="0" dirty="0"/>
                        <a:t>Limited labeled fashion datasets for diverse clothing categories.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Implemented data augmentation (rotation, flipping, cropping) to expand dataset diversity.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169519"/>
                  </a:ext>
                </a:extLst>
              </a:tr>
              <a:tr h="733637">
                <a:tc>
                  <a:txBody>
                    <a:bodyPr/>
                    <a:lstStyle/>
                    <a:p>
                      <a:pPr>
                        <a:buNone/>
                      </a:pPr>
                      <a:r>
                        <a:rPr lang="en-US" dirty="0"/>
                        <a:t>High computational demand for deep learning models.</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Designed a lightweight </a:t>
                      </a:r>
                      <a:r>
                        <a:rPr lang="en-US" b="0" dirty="0" err="1"/>
                        <a:t>ConvNeXt</a:t>
                      </a:r>
                      <a:r>
                        <a:rPr lang="en-US" b="0" dirty="0"/>
                        <a:t>–LSTM framework optimized for real-time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1804132"/>
                  </a:ext>
                </a:extLst>
              </a:tr>
              <a:tr h="733637">
                <a:tc>
                  <a:txBody>
                    <a:bodyPr/>
                    <a:lstStyle/>
                    <a:p>
                      <a:pPr>
                        <a:buNone/>
                      </a:pPr>
                      <a:r>
                        <a:rPr lang="en-US" b="0" dirty="0"/>
                        <a:t>Inconsistent caption generation due to weak visual-text alignment.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Integrated a vision–language fusion mechanism for coherent and context-aware descriptions.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4993729"/>
                  </a:ext>
                </a:extLst>
              </a:tr>
              <a:tr h="733637">
                <a:tc>
                  <a:txBody>
                    <a:bodyPr/>
                    <a:lstStyle/>
                    <a:p>
                      <a:pPr>
                        <a:buNone/>
                      </a:pPr>
                      <a:r>
                        <a:rPr lang="en-US" b="0" dirty="0"/>
                        <a:t>Poor model generalization to real-world or user-generated 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b="0" dirty="0"/>
                        <a:t>Enhanced transfer learning with pre-trained weights on large-scale apparel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6491165"/>
                  </a:ext>
                </a:extLst>
              </a:tr>
            </a:tbl>
          </a:graphicData>
        </a:graphic>
      </p:graphicFrame>
    </p:spTree>
    <p:extLst>
      <p:ext uri="{BB962C8B-B14F-4D97-AF65-F5344CB8AC3E}">
        <p14:creationId xmlns:p14="http://schemas.microsoft.com/office/powerpoint/2010/main" val="1054249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E69651-936A-290A-1779-9373FACA1F27}"/>
              </a:ext>
            </a:extLst>
          </p:cNvPr>
          <p:cNvSpPr>
            <a:spLocks noGrp="1"/>
          </p:cNvSpPr>
          <p:nvPr>
            <p:ph type="dt" sz="half" idx="10"/>
          </p:nvPr>
        </p:nvSpPr>
        <p:spPr/>
        <p:txBody>
          <a:bodyPr/>
          <a:lstStyle/>
          <a:p>
            <a:r>
              <a:rPr lang="en-US" dirty="0"/>
              <a:t>11-11-2025</a:t>
            </a:r>
            <a:endParaRPr lang="en-IN" dirty="0"/>
          </a:p>
        </p:txBody>
      </p:sp>
      <p:sp>
        <p:nvSpPr>
          <p:cNvPr id="3" name="Footer Placeholder 2">
            <a:extLst>
              <a:ext uri="{FF2B5EF4-FFF2-40B4-BE49-F238E27FC236}">
                <a16:creationId xmlns:a16="http://schemas.microsoft.com/office/drawing/2014/main" id="{17228ED4-FDED-DAA7-FD41-5D6B002B7D39}"/>
              </a:ext>
            </a:extLst>
          </p:cNvPr>
          <p:cNvSpPr>
            <a:spLocks noGrp="1"/>
          </p:cNvSpPr>
          <p:nvPr>
            <p:ph type="ftr" sz="quarter" idx="11"/>
          </p:nvPr>
        </p:nvSpPr>
        <p:spPr/>
        <p:txBody>
          <a:bodyPr/>
          <a:lstStyle/>
          <a:p>
            <a:r>
              <a:rPr lang="en-US" dirty="0"/>
              <a:t>Review No. 01         Batch No.  BB10         Department of CSE</a:t>
            </a:r>
            <a:endParaRPr lang="en-IN" dirty="0"/>
          </a:p>
        </p:txBody>
      </p:sp>
      <p:sp>
        <p:nvSpPr>
          <p:cNvPr id="4" name="Slide Number Placeholder 3">
            <a:extLst>
              <a:ext uri="{FF2B5EF4-FFF2-40B4-BE49-F238E27FC236}">
                <a16:creationId xmlns:a16="http://schemas.microsoft.com/office/drawing/2014/main" id="{E4C8A989-489E-4ED0-0172-DD62B5D22C5C}"/>
              </a:ext>
            </a:extLst>
          </p:cNvPr>
          <p:cNvSpPr>
            <a:spLocks noGrp="1"/>
          </p:cNvSpPr>
          <p:nvPr>
            <p:ph type="sldNum" sz="quarter" idx="12"/>
          </p:nvPr>
        </p:nvSpPr>
        <p:spPr/>
        <p:txBody>
          <a:bodyPr/>
          <a:lstStyle/>
          <a:p>
            <a:fld id="{65DCBD69-296B-4D7C-AF62-9B588FC78772}" type="slidenum">
              <a:rPr lang="en-IN" smtClean="0"/>
              <a:t>18</a:t>
            </a:fld>
            <a:endParaRPr lang="en-IN"/>
          </a:p>
        </p:txBody>
      </p:sp>
      <p:sp>
        <p:nvSpPr>
          <p:cNvPr id="8" name="TextBox 7">
            <a:extLst>
              <a:ext uri="{FF2B5EF4-FFF2-40B4-BE49-F238E27FC236}">
                <a16:creationId xmlns:a16="http://schemas.microsoft.com/office/drawing/2014/main" id="{468F7FB3-8A57-3F6D-5664-7A1CDACED8C1}"/>
              </a:ext>
            </a:extLst>
          </p:cNvPr>
          <p:cNvSpPr txBox="1"/>
          <p:nvPr/>
        </p:nvSpPr>
        <p:spPr>
          <a:xfrm>
            <a:off x="4636016" y="25527"/>
            <a:ext cx="6094070" cy="369332"/>
          </a:xfrm>
          <a:prstGeom prst="rect">
            <a:avLst/>
          </a:prstGeom>
          <a:noFill/>
        </p:spPr>
        <p:txBody>
          <a:bodyPr wrap="square">
            <a:spAutoFit/>
          </a:bodyPr>
          <a:lstStyle/>
          <a:p>
            <a:pPr marL="0" algn="l" rtl="0" eaLnBrk="1" latinLnBrk="0" hangingPunct="1">
              <a:buNone/>
            </a:pPr>
            <a:r>
              <a:rPr lang="en-US" sz="1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dirty="0">
              <a:effectLst/>
            </a:endParaRPr>
          </a:p>
        </p:txBody>
      </p:sp>
      <p:pic>
        <p:nvPicPr>
          <p:cNvPr id="9" name="Picture 8">
            <a:extLst>
              <a:ext uri="{FF2B5EF4-FFF2-40B4-BE49-F238E27FC236}">
                <a16:creationId xmlns:a16="http://schemas.microsoft.com/office/drawing/2014/main" id="{57097839-7649-0E7F-C454-6C9F691B1153}"/>
              </a:ext>
            </a:extLst>
          </p:cNvPr>
          <p:cNvPicPr>
            <a:picLocks noChangeAspect="1"/>
          </p:cNvPicPr>
          <p:nvPr/>
        </p:nvPicPr>
        <p:blipFill>
          <a:blip r:embed="rId2"/>
          <a:stretch>
            <a:fillRect/>
          </a:stretch>
        </p:blipFill>
        <p:spPr>
          <a:xfrm>
            <a:off x="0" y="63780"/>
            <a:ext cx="3762900" cy="579027"/>
          </a:xfrm>
          <a:prstGeom prst="rect">
            <a:avLst/>
          </a:prstGeom>
        </p:spPr>
      </p:pic>
      <p:pic>
        <p:nvPicPr>
          <p:cNvPr id="6" name="Picture 5">
            <a:extLst>
              <a:ext uri="{FF2B5EF4-FFF2-40B4-BE49-F238E27FC236}">
                <a16:creationId xmlns:a16="http://schemas.microsoft.com/office/drawing/2014/main" id="{EEB4C3DC-95A1-0DA9-C72E-8DA0213FEC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046" y="942392"/>
            <a:ext cx="11215907" cy="5345080"/>
          </a:xfrm>
          <a:prstGeom prst="rect">
            <a:avLst/>
          </a:prstGeom>
        </p:spPr>
      </p:pic>
    </p:spTree>
    <p:extLst>
      <p:ext uri="{BB962C8B-B14F-4D97-AF65-F5344CB8AC3E}">
        <p14:creationId xmlns:p14="http://schemas.microsoft.com/office/powerpoint/2010/main" val="2339863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 of Frontend</a:t>
            </a:r>
            <a:endParaRPr lang="en-IN" sz="4000"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a:t>10-11-2025</a:t>
            </a:r>
            <a:endParaRPr lang="en-IN" dirty="0"/>
          </a:p>
        </p:txBody>
      </p:sp>
      <p:sp>
        <p:nvSpPr>
          <p:cNvPr id="5" name="Footer Placeholder 4"/>
          <p:cNvSpPr>
            <a:spLocks noGrp="1"/>
          </p:cNvSpPr>
          <p:nvPr>
            <p:ph type="ftr" sz="quarter" idx="11"/>
          </p:nvPr>
        </p:nvSpPr>
        <p:spPr/>
        <p:txBody>
          <a:bodyPr/>
          <a:lstStyle/>
          <a:p>
            <a:r>
              <a:rPr lang="en-US"/>
              <a:t>Review No. 01         Batch No.  AB6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19</a:t>
            </a:fld>
            <a:endParaRPr lang="en-IN" dirty="0"/>
          </a:p>
        </p:txBody>
      </p:sp>
      <p:pic>
        <p:nvPicPr>
          <p:cNvPr id="10" name="Content Placeholder 9">
            <a:extLst>
              <a:ext uri="{FF2B5EF4-FFF2-40B4-BE49-F238E27FC236}">
                <a16:creationId xmlns:a16="http://schemas.microsoft.com/office/drawing/2014/main" id="{8FFADD51-C587-80AD-B531-23C0666E1B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201" y="1287624"/>
            <a:ext cx="11327598" cy="5345210"/>
          </a:xfrm>
        </p:spPr>
      </p:pic>
    </p:spTree>
    <p:extLst>
      <p:ext uri="{BB962C8B-B14F-4D97-AF65-F5344CB8AC3E}">
        <p14:creationId xmlns:p14="http://schemas.microsoft.com/office/powerpoint/2010/main" val="937651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08B5B-8009-EBCC-5307-7EF620497B40}"/>
              </a:ext>
            </a:extLst>
          </p:cNvPr>
          <p:cNvSpPr>
            <a:spLocks noGrp="1"/>
          </p:cNvSpPr>
          <p:nvPr>
            <p:ph type="dt" sz="half" idx="10"/>
          </p:nvPr>
        </p:nvSpPr>
        <p:spPr/>
        <p:txBody>
          <a:bodyPr/>
          <a:lstStyle/>
          <a:p>
            <a:r>
              <a:rPr lang="en-US" dirty="0"/>
              <a:t>11-11-2025</a:t>
            </a:r>
            <a:endParaRPr lang="en-IN" dirty="0"/>
          </a:p>
        </p:txBody>
      </p:sp>
      <p:sp>
        <p:nvSpPr>
          <p:cNvPr id="3" name="Footer Placeholder 2">
            <a:extLst>
              <a:ext uri="{FF2B5EF4-FFF2-40B4-BE49-F238E27FC236}">
                <a16:creationId xmlns:a16="http://schemas.microsoft.com/office/drawing/2014/main" id="{E127E7CF-A531-7104-9A22-CD6618215D58}"/>
              </a:ext>
            </a:extLst>
          </p:cNvPr>
          <p:cNvSpPr>
            <a:spLocks noGrp="1"/>
          </p:cNvSpPr>
          <p:nvPr>
            <p:ph type="ftr" sz="quarter" idx="11"/>
          </p:nvPr>
        </p:nvSpPr>
        <p:spPr/>
        <p:txBody>
          <a:bodyPr/>
          <a:lstStyle/>
          <a:p>
            <a:r>
              <a:rPr lang="en-US" dirty="0"/>
              <a:t>Review No. 01         Batch No.  BB10         Department of CSE</a:t>
            </a:r>
            <a:endParaRPr lang="en-IN" dirty="0"/>
          </a:p>
        </p:txBody>
      </p:sp>
      <p:sp>
        <p:nvSpPr>
          <p:cNvPr id="4" name="Slide Number Placeholder 3">
            <a:extLst>
              <a:ext uri="{FF2B5EF4-FFF2-40B4-BE49-F238E27FC236}">
                <a16:creationId xmlns:a16="http://schemas.microsoft.com/office/drawing/2014/main" id="{0334FF43-B1E7-2A42-B912-F6BB0BDC099D}"/>
              </a:ext>
            </a:extLst>
          </p:cNvPr>
          <p:cNvSpPr>
            <a:spLocks noGrp="1"/>
          </p:cNvSpPr>
          <p:nvPr>
            <p:ph type="sldNum" sz="quarter" idx="12"/>
          </p:nvPr>
        </p:nvSpPr>
        <p:spPr/>
        <p:txBody>
          <a:bodyPr/>
          <a:lstStyle/>
          <a:p>
            <a:fld id="{65DCBD69-296B-4D7C-AF62-9B588FC78772}" type="slidenum">
              <a:rPr lang="en-IN" smtClean="0"/>
              <a:t>20</a:t>
            </a:fld>
            <a:endParaRPr lang="en-IN"/>
          </a:p>
        </p:txBody>
      </p:sp>
      <p:sp>
        <p:nvSpPr>
          <p:cNvPr id="10" name="TextBox 9">
            <a:extLst>
              <a:ext uri="{FF2B5EF4-FFF2-40B4-BE49-F238E27FC236}">
                <a16:creationId xmlns:a16="http://schemas.microsoft.com/office/drawing/2014/main" id="{A3F85FC2-6F4A-930B-3B64-312DAB390CD3}"/>
              </a:ext>
            </a:extLst>
          </p:cNvPr>
          <p:cNvSpPr txBox="1"/>
          <p:nvPr/>
        </p:nvSpPr>
        <p:spPr>
          <a:xfrm>
            <a:off x="4204505" y="101535"/>
            <a:ext cx="609407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Implementation of Frontend</a:t>
            </a:r>
            <a:endParaRPr lang="en-IN" sz="2400" dirty="0"/>
          </a:p>
        </p:txBody>
      </p:sp>
      <p:pic>
        <p:nvPicPr>
          <p:cNvPr id="11" name="Picture 10">
            <a:extLst>
              <a:ext uri="{FF2B5EF4-FFF2-40B4-BE49-F238E27FC236}">
                <a16:creationId xmlns:a16="http://schemas.microsoft.com/office/drawing/2014/main" id="{2E602E42-0D1D-C0A3-AE95-45438EB7D334}"/>
              </a:ext>
            </a:extLst>
          </p:cNvPr>
          <p:cNvPicPr>
            <a:picLocks noChangeAspect="1"/>
          </p:cNvPicPr>
          <p:nvPr/>
        </p:nvPicPr>
        <p:blipFill>
          <a:blip r:embed="rId2"/>
          <a:stretch>
            <a:fillRect/>
          </a:stretch>
        </p:blipFill>
        <p:spPr>
          <a:xfrm>
            <a:off x="0" y="63780"/>
            <a:ext cx="3905416" cy="600957"/>
          </a:xfrm>
          <a:prstGeom prst="rect">
            <a:avLst/>
          </a:prstGeom>
        </p:spPr>
      </p:pic>
      <p:pic>
        <p:nvPicPr>
          <p:cNvPr id="7" name="Picture 6">
            <a:extLst>
              <a:ext uri="{FF2B5EF4-FFF2-40B4-BE49-F238E27FC236}">
                <a16:creationId xmlns:a16="http://schemas.microsoft.com/office/drawing/2014/main" id="{C67E5AB7-B8D1-7099-90F8-223FE7665E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17" y="813511"/>
            <a:ext cx="11193565" cy="5394064"/>
          </a:xfrm>
          <a:prstGeom prst="rect">
            <a:avLst/>
          </a:prstGeom>
        </p:spPr>
      </p:pic>
    </p:spTree>
    <p:extLst>
      <p:ext uri="{BB962C8B-B14F-4D97-AF65-F5344CB8AC3E}">
        <p14:creationId xmlns:p14="http://schemas.microsoft.com/office/powerpoint/2010/main" val="316806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AA0B73-6CA5-E775-F5C6-1BFF6189A5AA}"/>
              </a:ext>
            </a:extLst>
          </p:cNvPr>
          <p:cNvSpPr>
            <a:spLocks noGrp="1"/>
          </p:cNvSpPr>
          <p:nvPr>
            <p:ph type="dt" sz="half" idx="10"/>
          </p:nvPr>
        </p:nvSpPr>
        <p:spPr/>
        <p:txBody>
          <a:bodyPr/>
          <a:lstStyle/>
          <a:p>
            <a:r>
              <a:rPr lang="en-US" dirty="0"/>
              <a:t>11-11-2025</a:t>
            </a:r>
            <a:endParaRPr lang="en-IN" dirty="0"/>
          </a:p>
        </p:txBody>
      </p:sp>
      <p:sp>
        <p:nvSpPr>
          <p:cNvPr id="3" name="Footer Placeholder 2">
            <a:extLst>
              <a:ext uri="{FF2B5EF4-FFF2-40B4-BE49-F238E27FC236}">
                <a16:creationId xmlns:a16="http://schemas.microsoft.com/office/drawing/2014/main" id="{2A09B01B-71CE-0B80-2644-CB49A8E68004}"/>
              </a:ext>
            </a:extLst>
          </p:cNvPr>
          <p:cNvSpPr>
            <a:spLocks noGrp="1"/>
          </p:cNvSpPr>
          <p:nvPr>
            <p:ph type="ftr" sz="quarter" idx="11"/>
          </p:nvPr>
        </p:nvSpPr>
        <p:spPr/>
        <p:txBody>
          <a:bodyPr/>
          <a:lstStyle/>
          <a:p>
            <a:r>
              <a:rPr lang="en-US" dirty="0"/>
              <a:t>Review No. 01         Batch No.  BB10         Department of CSE</a:t>
            </a:r>
            <a:endParaRPr lang="en-IN" dirty="0"/>
          </a:p>
        </p:txBody>
      </p:sp>
      <p:sp>
        <p:nvSpPr>
          <p:cNvPr id="4" name="Slide Number Placeholder 3">
            <a:extLst>
              <a:ext uri="{FF2B5EF4-FFF2-40B4-BE49-F238E27FC236}">
                <a16:creationId xmlns:a16="http://schemas.microsoft.com/office/drawing/2014/main" id="{0AE3A1CB-EF01-93C1-A86A-38F8BD63B4D7}"/>
              </a:ext>
            </a:extLst>
          </p:cNvPr>
          <p:cNvSpPr>
            <a:spLocks noGrp="1"/>
          </p:cNvSpPr>
          <p:nvPr>
            <p:ph type="sldNum" sz="quarter" idx="12"/>
          </p:nvPr>
        </p:nvSpPr>
        <p:spPr/>
        <p:txBody>
          <a:bodyPr/>
          <a:lstStyle/>
          <a:p>
            <a:fld id="{65DCBD69-296B-4D7C-AF62-9B588FC78772}" type="slidenum">
              <a:rPr lang="en-IN" smtClean="0"/>
              <a:t>21</a:t>
            </a:fld>
            <a:endParaRPr lang="en-IN"/>
          </a:p>
        </p:txBody>
      </p:sp>
      <p:sp>
        <p:nvSpPr>
          <p:cNvPr id="14" name="TextBox 13">
            <a:extLst>
              <a:ext uri="{FF2B5EF4-FFF2-40B4-BE49-F238E27FC236}">
                <a16:creationId xmlns:a16="http://schemas.microsoft.com/office/drawing/2014/main" id="{8CDCD86D-4A7E-74DD-5207-DFABDE68309A}"/>
              </a:ext>
            </a:extLst>
          </p:cNvPr>
          <p:cNvSpPr txBox="1"/>
          <p:nvPr/>
        </p:nvSpPr>
        <p:spPr>
          <a:xfrm>
            <a:off x="4038600" y="136525"/>
            <a:ext cx="609407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Implementation of Frontend</a:t>
            </a:r>
            <a:endParaRPr lang="en-IN" sz="2800" dirty="0"/>
          </a:p>
        </p:txBody>
      </p:sp>
      <p:pic>
        <p:nvPicPr>
          <p:cNvPr id="15" name="Picture 14">
            <a:extLst>
              <a:ext uri="{FF2B5EF4-FFF2-40B4-BE49-F238E27FC236}">
                <a16:creationId xmlns:a16="http://schemas.microsoft.com/office/drawing/2014/main" id="{C293FE92-8B18-F71D-75BB-C2D407E11138}"/>
              </a:ext>
            </a:extLst>
          </p:cNvPr>
          <p:cNvPicPr>
            <a:picLocks noChangeAspect="1"/>
          </p:cNvPicPr>
          <p:nvPr/>
        </p:nvPicPr>
        <p:blipFill>
          <a:blip r:embed="rId2"/>
          <a:stretch>
            <a:fillRect/>
          </a:stretch>
        </p:blipFill>
        <p:spPr>
          <a:xfrm>
            <a:off x="0" y="63780"/>
            <a:ext cx="3762900" cy="579027"/>
          </a:xfrm>
          <a:prstGeom prst="rect">
            <a:avLst/>
          </a:prstGeom>
        </p:spPr>
      </p:pic>
      <p:pic>
        <p:nvPicPr>
          <p:cNvPr id="7" name="Picture 6">
            <a:extLst>
              <a:ext uri="{FF2B5EF4-FFF2-40B4-BE49-F238E27FC236}">
                <a16:creationId xmlns:a16="http://schemas.microsoft.com/office/drawing/2014/main" id="{CD9CC6B8-9409-D5EF-A124-2B20153A6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170" y="970011"/>
            <a:ext cx="11353800" cy="5369401"/>
          </a:xfrm>
          <a:prstGeom prst="rect">
            <a:avLst/>
          </a:prstGeom>
        </p:spPr>
      </p:pic>
    </p:spTree>
    <p:extLst>
      <p:ext uri="{BB962C8B-B14F-4D97-AF65-F5344CB8AC3E}">
        <p14:creationId xmlns:p14="http://schemas.microsoft.com/office/powerpoint/2010/main" val="2572573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2EFC2B-953E-705F-30B8-D0F501B98977}"/>
              </a:ext>
            </a:extLst>
          </p:cNvPr>
          <p:cNvSpPr>
            <a:spLocks noGrp="1"/>
          </p:cNvSpPr>
          <p:nvPr>
            <p:ph type="dt" sz="half" idx="10"/>
          </p:nvPr>
        </p:nvSpPr>
        <p:spPr/>
        <p:txBody>
          <a:bodyPr/>
          <a:lstStyle/>
          <a:p>
            <a:r>
              <a:rPr lang="en-US" dirty="0"/>
              <a:t>11-11-2025</a:t>
            </a:r>
            <a:endParaRPr lang="en-IN" dirty="0"/>
          </a:p>
        </p:txBody>
      </p:sp>
      <p:sp>
        <p:nvSpPr>
          <p:cNvPr id="3" name="Footer Placeholder 2">
            <a:extLst>
              <a:ext uri="{FF2B5EF4-FFF2-40B4-BE49-F238E27FC236}">
                <a16:creationId xmlns:a16="http://schemas.microsoft.com/office/drawing/2014/main" id="{3921FDFA-6964-21A5-D6C9-C37984760B17}"/>
              </a:ext>
            </a:extLst>
          </p:cNvPr>
          <p:cNvSpPr>
            <a:spLocks noGrp="1"/>
          </p:cNvSpPr>
          <p:nvPr>
            <p:ph type="ftr" sz="quarter" idx="11"/>
          </p:nvPr>
        </p:nvSpPr>
        <p:spPr/>
        <p:txBody>
          <a:bodyPr/>
          <a:lstStyle/>
          <a:p>
            <a:r>
              <a:rPr lang="en-US" dirty="0"/>
              <a:t>Review No. 01         Batch No.  BB10         Department of CSE</a:t>
            </a:r>
            <a:endParaRPr lang="en-IN" dirty="0"/>
          </a:p>
        </p:txBody>
      </p:sp>
      <p:sp>
        <p:nvSpPr>
          <p:cNvPr id="4" name="Slide Number Placeholder 3">
            <a:extLst>
              <a:ext uri="{FF2B5EF4-FFF2-40B4-BE49-F238E27FC236}">
                <a16:creationId xmlns:a16="http://schemas.microsoft.com/office/drawing/2014/main" id="{0A3E2F12-3059-3E56-3223-1031EE9D7F58}"/>
              </a:ext>
            </a:extLst>
          </p:cNvPr>
          <p:cNvSpPr>
            <a:spLocks noGrp="1"/>
          </p:cNvSpPr>
          <p:nvPr>
            <p:ph type="sldNum" sz="quarter" idx="12"/>
          </p:nvPr>
        </p:nvSpPr>
        <p:spPr/>
        <p:txBody>
          <a:bodyPr/>
          <a:lstStyle/>
          <a:p>
            <a:fld id="{65DCBD69-296B-4D7C-AF62-9B588FC78772}" type="slidenum">
              <a:rPr lang="en-IN" smtClean="0"/>
              <a:t>22</a:t>
            </a:fld>
            <a:endParaRPr lang="en-IN"/>
          </a:p>
        </p:txBody>
      </p:sp>
      <p:sp>
        <p:nvSpPr>
          <p:cNvPr id="10" name="TextBox 9">
            <a:extLst>
              <a:ext uri="{FF2B5EF4-FFF2-40B4-BE49-F238E27FC236}">
                <a16:creationId xmlns:a16="http://schemas.microsoft.com/office/drawing/2014/main" id="{A38E3538-2585-FCFA-9BAB-072777A67A48}"/>
              </a:ext>
            </a:extLst>
          </p:cNvPr>
          <p:cNvSpPr txBox="1"/>
          <p:nvPr/>
        </p:nvSpPr>
        <p:spPr>
          <a:xfrm>
            <a:off x="4038600" y="63857"/>
            <a:ext cx="6094070" cy="523220"/>
          </a:xfrm>
          <a:prstGeom prst="rect">
            <a:avLst/>
          </a:prstGeom>
          <a:noFill/>
        </p:spPr>
        <p:txBody>
          <a:bodyPr wrap="square">
            <a:spAutoFit/>
          </a:bodyPr>
          <a:lstStyle/>
          <a:p>
            <a:pPr marL="0" algn="l" rtl="0" eaLnBrk="1" latinLnBrk="0" hangingPunct="1">
              <a:buNone/>
            </a:pPr>
            <a:r>
              <a:rPr lang="en-US" sz="2800" b="1" kern="1200" dirty="0">
                <a:solidFill>
                  <a:srgbClr val="000000"/>
                </a:solidFill>
                <a:effectLst/>
                <a:latin typeface="Times New Roman" panose="02020603050405020304" pitchFamily="18" charset="0"/>
                <a:ea typeface="+mn-ea"/>
                <a:cs typeface="Times New Roman" panose="02020603050405020304" pitchFamily="18" charset="0"/>
              </a:rPr>
              <a:t>Implementation of Frontend</a:t>
            </a:r>
            <a:endParaRPr lang="en-IN" sz="2800" dirty="0">
              <a:effectLst/>
            </a:endParaRPr>
          </a:p>
        </p:txBody>
      </p:sp>
      <p:pic>
        <p:nvPicPr>
          <p:cNvPr id="12" name="Picture 11">
            <a:extLst>
              <a:ext uri="{FF2B5EF4-FFF2-40B4-BE49-F238E27FC236}">
                <a16:creationId xmlns:a16="http://schemas.microsoft.com/office/drawing/2014/main" id="{DC33FE98-D4AE-1E8C-1F53-FE96EDC6CC13}"/>
              </a:ext>
            </a:extLst>
          </p:cNvPr>
          <p:cNvPicPr>
            <a:picLocks noChangeAspect="1"/>
          </p:cNvPicPr>
          <p:nvPr/>
        </p:nvPicPr>
        <p:blipFill>
          <a:blip r:embed="rId2"/>
          <a:stretch>
            <a:fillRect/>
          </a:stretch>
        </p:blipFill>
        <p:spPr>
          <a:xfrm>
            <a:off x="114179" y="82567"/>
            <a:ext cx="3762375" cy="571500"/>
          </a:xfrm>
          <a:prstGeom prst="rect">
            <a:avLst/>
          </a:prstGeom>
        </p:spPr>
      </p:pic>
      <p:pic>
        <p:nvPicPr>
          <p:cNvPr id="6" name="Picture 5">
            <a:extLst>
              <a:ext uri="{FF2B5EF4-FFF2-40B4-BE49-F238E27FC236}">
                <a16:creationId xmlns:a16="http://schemas.microsoft.com/office/drawing/2014/main" id="{CA2451BD-3149-C47B-3904-E64920FBF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933" y="1154801"/>
            <a:ext cx="11678133" cy="5301196"/>
          </a:xfrm>
          <a:prstGeom prst="rect">
            <a:avLst/>
          </a:prstGeom>
        </p:spPr>
      </p:pic>
    </p:spTree>
    <p:extLst>
      <p:ext uri="{BB962C8B-B14F-4D97-AF65-F5344CB8AC3E}">
        <p14:creationId xmlns:p14="http://schemas.microsoft.com/office/powerpoint/2010/main" val="3800456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5118"/>
            <a:ext cx="10515600" cy="726142"/>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RESULTS &amp; ANALYSIS</a:t>
            </a:r>
            <a:endParaRPr lang="en-IN" b="1" dirty="0"/>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graphicFrame>
        <p:nvGraphicFramePr>
          <p:cNvPr id="8" name="Content Placeholder 7">
            <a:extLst>
              <a:ext uri="{FF2B5EF4-FFF2-40B4-BE49-F238E27FC236}">
                <a16:creationId xmlns:a16="http://schemas.microsoft.com/office/drawing/2014/main" id="{062EEC63-EFD6-4891-6964-459F2BB2B008}"/>
              </a:ext>
            </a:extLst>
          </p:cNvPr>
          <p:cNvGraphicFramePr>
            <a:graphicFrameLocks noGrp="1"/>
          </p:cNvGraphicFramePr>
          <p:nvPr>
            <p:ph idx="1"/>
            <p:extLst>
              <p:ext uri="{D42A27DB-BD31-4B8C-83A1-F6EECF244321}">
                <p14:modId xmlns:p14="http://schemas.microsoft.com/office/powerpoint/2010/main" val="3816983507"/>
              </p:ext>
            </p:extLst>
          </p:nvPr>
        </p:nvGraphicFramePr>
        <p:xfrm>
          <a:off x="1652336" y="1652337"/>
          <a:ext cx="7860630" cy="4454414"/>
        </p:xfrm>
        <a:graphic>
          <a:graphicData uri="http://schemas.openxmlformats.org/drawingml/2006/table">
            <a:tbl>
              <a:tblPr/>
              <a:tblGrid>
                <a:gridCol w="2620210">
                  <a:extLst>
                    <a:ext uri="{9D8B030D-6E8A-4147-A177-3AD203B41FA5}">
                      <a16:colId xmlns:a16="http://schemas.microsoft.com/office/drawing/2014/main" val="4124021638"/>
                    </a:ext>
                  </a:extLst>
                </a:gridCol>
                <a:gridCol w="2620210">
                  <a:extLst>
                    <a:ext uri="{9D8B030D-6E8A-4147-A177-3AD203B41FA5}">
                      <a16:colId xmlns:a16="http://schemas.microsoft.com/office/drawing/2014/main" val="2728161939"/>
                    </a:ext>
                  </a:extLst>
                </a:gridCol>
                <a:gridCol w="2620210">
                  <a:extLst>
                    <a:ext uri="{9D8B030D-6E8A-4147-A177-3AD203B41FA5}">
                      <a16:colId xmlns:a16="http://schemas.microsoft.com/office/drawing/2014/main" val="4085866779"/>
                    </a:ext>
                  </a:extLst>
                </a:gridCol>
              </a:tblGrid>
              <a:tr h="295659">
                <a:tc>
                  <a:txBody>
                    <a:bodyPr/>
                    <a:lstStyle/>
                    <a:p>
                      <a:pPr>
                        <a:buNone/>
                      </a:pPr>
                      <a:r>
                        <a:rPr lang="en-IN" sz="1800" b="0"/>
                        <a:t>Metric / Parameter</a:t>
                      </a:r>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0"/>
                        <a:t>Description / Observation</a:t>
                      </a:r>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0" dirty="0"/>
                        <a:t>Result</a:t>
                      </a:r>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9042432"/>
                  </a:ext>
                </a:extLst>
              </a:tr>
              <a:tr h="795580">
                <a:tc>
                  <a:txBody>
                    <a:bodyPr/>
                    <a:lstStyle/>
                    <a:p>
                      <a:pPr>
                        <a:buNone/>
                      </a:pPr>
                      <a:r>
                        <a:rPr lang="en-IN" dirty="0"/>
                        <a:t>BLEU-1 Score</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Unigram precision</a:t>
                      </a:r>
                      <a:endParaRPr lang="en-US"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0.946</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9548431"/>
                  </a:ext>
                </a:extLst>
              </a:tr>
              <a:tr h="545619">
                <a:tc>
                  <a:txBody>
                    <a:bodyPr/>
                    <a:lstStyle/>
                    <a:p>
                      <a:pPr>
                        <a:buNone/>
                      </a:pPr>
                      <a:r>
                        <a:rPr lang="en-IN" dirty="0"/>
                        <a:t>BLEU-2 Score</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Bigram consistency</a:t>
                      </a:r>
                      <a:endParaRPr lang="en-US"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0.932</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3231149"/>
                  </a:ext>
                </a:extLst>
              </a:tr>
              <a:tr h="545619">
                <a:tc>
                  <a:txBody>
                    <a:bodyPr/>
                    <a:lstStyle/>
                    <a:p>
                      <a:pPr>
                        <a:buNone/>
                      </a:pPr>
                      <a:r>
                        <a:rPr lang="en-IN" dirty="0"/>
                        <a:t>BLEU-3 Score</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Trigram fluency</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0.924</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098536"/>
                  </a:ext>
                </a:extLst>
              </a:tr>
              <a:tr h="545619">
                <a:tc>
                  <a:txBody>
                    <a:bodyPr/>
                    <a:lstStyle/>
                    <a:p>
                      <a:pPr>
                        <a:buNone/>
                      </a:pPr>
                      <a:r>
                        <a:rPr lang="en-IN" dirty="0"/>
                        <a:t>BLEU-4 Score</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Sentence structure accuracy</a:t>
                      </a:r>
                      <a:endParaRPr lang="en-US"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0.917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2666376"/>
                  </a:ext>
                </a:extLst>
              </a:tr>
              <a:tr h="545619">
                <a:tc>
                  <a:txBody>
                    <a:bodyPr/>
                    <a:lstStyle/>
                    <a:p>
                      <a:pPr>
                        <a:buNone/>
                      </a:pPr>
                      <a:r>
                        <a:rPr lang="en-IN" dirty="0"/>
                        <a:t>Training Accuracy</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Model convergence (30 epochs)</a:t>
                      </a:r>
                      <a:endParaRPr lang="en-US"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Above 95%</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0799505"/>
                  </a:ext>
                </a:extLst>
              </a:tr>
              <a:tr h="1045540">
                <a:tc>
                  <a:txBody>
                    <a:bodyPr/>
                    <a:lstStyle/>
                    <a:p>
                      <a:pPr>
                        <a:buNone/>
                      </a:pPr>
                      <a:r>
                        <a:rPr lang="en-IN" dirty="0"/>
                        <a:t>Validation Accuracy</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Performance on unseen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Above 93%</a:t>
                      </a:r>
                      <a:endParaRPr lang="en-IN" sz="1800" b="0" dirty="0"/>
                    </a:p>
                  </a:txBody>
                  <a:tcPr marL="50152" marR="50152" marT="25076" marB="250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3926441"/>
                  </a:ext>
                </a:extLst>
              </a:tr>
            </a:tbl>
          </a:graphicData>
        </a:graphic>
      </p:graphicFrame>
    </p:spTree>
    <p:extLst>
      <p:ext uri="{BB962C8B-B14F-4D97-AF65-F5344CB8AC3E}">
        <p14:creationId xmlns:p14="http://schemas.microsoft.com/office/powerpoint/2010/main" val="1307255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0306"/>
            <a:ext cx="10515600" cy="900953"/>
          </a:xfrm>
        </p:spPr>
        <p:txBody>
          <a:bodyPr/>
          <a:lstStyle/>
          <a:p>
            <a:pPr algn="ctr"/>
            <a:r>
              <a:rPr lang="en-IN" b="1" dirty="0">
                <a:latin typeface="Times New Roman" panose="02020603050405020304" pitchFamily="18" charset="0"/>
                <a:cs typeface="Times New Roman" panose="02020603050405020304" pitchFamily="18" charset="0"/>
              </a:rPr>
              <a:t>RESULTS &amp; ANALYSIS</a:t>
            </a:r>
            <a:endParaRPr lang="en-IN" dirty="0"/>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24</a:t>
            </a:fld>
            <a:endParaRPr lang="en-IN"/>
          </a:p>
        </p:txBody>
      </p:sp>
      <p:sp>
        <p:nvSpPr>
          <p:cNvPr id="8" name="Rectangle 7"/>
          <p:cNvSpPr/>
          <p:nvPr/>
        </p:nvSpPr>
        <p:spPr>
          <a:xfrm>
            <a:off x="470647" y="1781175"/>
            <a:ext cx="4814049" cy="1569660"/>
          </a:xfrm>
          <a:prstGeom prst="rect">
            <a:avLst/>
          </a:prstGeom>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54CE2A31-5744-116C-471E-140038FEBEBE}"/>
              </a:ext>
            </a:extLst>
          </p:cNvPr>
          <p:cNvSpPr>
            <a:spLocks noGrp="1"/>
          </p:cNvSpPr>
          <p:nvPr>
            <p:ph idx="1"/>
          </p:nvPr>
        </p:nvSpPr>
        <p:spPr>
          <a:xfrm>
            <a:off x="791938" y="1945021"/>
            <a:ext cx="5646184" cy="3942595"/>
          </a:xfrm>
        </p:spPr>
        <p:txBody>
          <a:bodyPr>
            <a:normAutofit fontScale="77500" lnSpcReduction="20000"/>
          </a:bodyPr>
          <a:lstStyle/>
          <a:p>
            <a:r>
              <a:rPr lang="en-IN" b="1" dirty="0"/>
              <a:t>High Caption Accuracy</a:t>
            </a:r>
            <a:r>
              <a:rPr lang="en-IN" dirty="0"/>
              <a:t> — BLEU-1 to BLEU-4 scores ranging from 0.917 to 0.946</a:t>
            </a:r>
          </a:p>
          <a:p>
            <a:r>
              <a:rPr lang="en-IN" b="1" dirty="0"/>
              <a:t>Strong Visual-Text Alignment</a:t>
            </a:r>
            <a:r>
              <a:rPr lang="en-IN" dirty="0"/>
              <a:t> — </a:t>
            </a:r>
            <a:r>
              <a:rPr lang="en-IN" dirty="0" err="1"/>
              <a:t>ConvNeXt</a:t>
            </a:r>
            <a:r>
              <a:rPr lang="en-IN" dirty="0"/>
              <a:t>-Large encoder captures fine apparel features</a:t>
            </a:r>
          </a:p>
          <a:p>
            <a:r>
              <a:rPr lang="en-IN" b="1" dirty="0"/>
              <a:t>Stable Training</a:t>
            </a:r>
            <a:r>
              <a:rPr lang="en-IN" dirty="0"/>
              <a:t> — Consistent convergence over 30 epochs with low loss</a:t>
            </a:r>
          </a:p>
          <a:p>
            <a:r>
              <a:rPr lang="en-IN" b="1" dirty="0"/>
              <a:t>Context-Aware Captions</a:t>
            </a:r>
            <a:r>
              <a:rPr lang="en-IN" dirty="0"/>
              <a:t> — LSTM decoder ensures fluent and descriptive text generation</a:t>
            </a:r>
          </a:p>
          <a:p>
            <a:r>
              <a:rPr lang="en-IN" b="1" dirty="0"/>
              <a:t>Robust Generalization</a:t>
            </a:r>
            <a:r>
              <a:rPr lang="en-IN" dirty="0"/>
              <a:t> — Performs well on unseen apparel images and video frames</a:t>
            </a:r>
          </a:p>
          <a:p>
            <a:r>
              <a:rPr lang="en-IN" b="1" dirty="0"/>
              <a:t>High Frame Consistency</a:t>
            </a:r>
            <a:r>
              <a:rPr lang="en-IN" dirty="0"/>
              <a:t> — Maintains caption coherence in video sequences</a:t>
            </a:r>
          </a:p>
          <a:p>
            <a:endParaRPr lang="en-IN" dirty="0"/>
          </a:p>
        </p:txBody>
      </p:sp>
      <p:pic>
        <p:nvPicPr>
          <p:cNvPr id="7" name="Picture 6">
            <a:extLst>
              <a:ext uri="{FF2B5EF4-FFF2-40B4-BE49-F238E27FC236}">
                <a16:creationId xmlns:a16="http://schemas.microsoft.com/office/drawing/2014/main" id="{892ED8E1-E71A-B252-AC6A-781137A590A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63534" y="2034074"/>
            <a:ext cx="4519905" cy="3545632"/>
          </a:xfrm>
          <a:prstGeom prst="rect">
            <a:avLst/>
          </a:prstGeom>
        </p:spPr>
      </p:pic>
    </p:spTree>
    <p:extLst>
      <p:ext uri="{BB962C8B-B14F-4D97-AF65-F5344CB8AC3E}">
        <p14:creationId xmlns:p14="http://schemas.microsoft.com/office/powerpoint/2010/main" val="3153372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 &amp; FUTURE SCOPE</a:t>
            </a:r>
            <a:endParaRPr lang="en-IN" dirty="0"/>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25</a:t>
            </a:fld>
            <a:endParaRPr lang="en-IN" dirty="0"/>
          </a:p>
        </p:txBody>
      </p:sp>
      <p:sp>
        <p:nvSpPr>
          <p:cNvPr id="7" name="Rectangle 1"/>
          <p:cNvSpPr>
            <a:spLocks noGrp="1" noChangeArrowheads="1"/>
          </p:cNvSpPr>
          <p:nvPr>
            <p:ph idx="1"/>
          </p:nvPr>
        </p:nvSpPr>
        <p:spPr bwMode="auto">
          <a:xfrm>
            <a:off x="578224" y="1753457"/>
            <a:ext cx="1104003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IN" sz="2400" dirty="0"/>
              <a:t>Conclusion:</a:t>
            </a:r>
          </a:p>
          <a:p>
            <a:pPr marL="0" indent="0" eaLnBrk="0" fontAlgn="base" hangingPunct="0">
              <a:lnSpc>
                <a:spcPct val="100000"/>
              </a:lnSpc>
              <a:spcBef>
                <a:spcPct val="0"/>
              </a:spcBef>
              <a:spcAft>
                <a:spcPct val="0"/>
              </a:spcAft>
              <a:buNone/>
            </a:pPr>
            <a:r>
              <a:rPr lang="en-US" sz="2400" dirty="0"/>
              <a:t>    The proposed </a:t>
            </a:r>
            <a:r>
              <a:rPr lang="en-US" sz="2400" dirty="0" err="1"/>
              <a:t>ConvNeXt</a:t>
            </a:r>
            <a:r>
              <a:rPr lang="en-US" sz="2400" dirty="0"/>
              <a:t>-Large + LSTM model effectively generates accurate apparel </a:t>
            </a:r>
            <a:r>
              <a:rPr lang="en-US" sz="2400" dirty="0" err="1"/>
              <a:t>captions.Achieved</a:t>
            </a:r>
            <a:r>
              <a:rPr lang="en-US" sz="2400" dirty="0"/>
              <a:t> high BLEU scores (0.946–0.917) with strong visual–text alignment.</a:t>
            </a:r>
            <a:br>
              <a:rPr lang="en-US" sz="2400" dirty="0"/>
            </a:br>
            <a:r>
              <a:rPr lang="en-US" sz="2400" dirty="0"/>
              <a:t>Shows robust performance for both image and video captioning.</a:t>
            </a:r>
          </a:p>
          <a:p>
            <a:pPr marL="0" lvl="0" indent="0" eaLnBrk="0" fontAlgn="base" hangingPunct="0">
              <a:lnSpc>
                <a:spcPct val="100000"/>
              </a:lnSpc>
              <a:spcBef>
                <a:spcPct val="0"/>
              </a:spcBef>
              <a:spcAft>
                <a:spcPct val="0"/>
              </a:spcAft>
              <a:buFontTx/>
              <a:buChar char="•"/>
            </a:pPr>
            <a:r>
              <a:rPr lang="en-US" altLang="en-US" sz="2400" dirty="0"/>
              <a:t>Future Scope:</a:t>
            </a:r>
          </a:p>
          <a:p>
            <a:pPr marL="0" lvl="0" indent="0" eaLnBrk="0" fontAlgn="base" hangingPunct="0">
              <a:lnSpc>
                <a:spcPct val="100000"/>
              </a:lnSpc>
              <a:spcBef>
                <a:spcPct val="0"/>
              </a:spcBef>
              <a:spcAft>
                <a:spcPct val="0"/>
              </a:spcAft>
              <a:buNone/>
            </a:pPr>
            <a:r>
              <a:rPr lang="en-US" sz="2400" dirty="0"/>
              <a:t>   Extend the system with attention and transformer-based architectures for improved    context </a:t>
            </a:r>
            <a:r>
              <a:rPr lang="en-US" sz="2400" dirty="0" err="1"/>
              <a:t>retention.Integrate</a:t>
            </a:r>
            <a:r>
              <a:rPr lang="en-US" sz="2400" dirty="0"/>
              <a:t> real-time captioning in e-commerce and assistive applications for the visually </a:t>
            </a:r>
            <a:r>
              <a:rPr lang="en-US" sz="2400" dirty="0" err="1"/>
              <a:t>impaired.Develop</a:t>
            </a:r>
            <a:r>
              <a:rPr lang="en-US" sz="2400" dirty="0"/>
              <a:t> multilingual and voice-enabled fashion narration for wider </a:t>
            </a:r>
            <a:r>
              <a:rPr lang="en-US" sz="2400" dirty="0" err="1"/>
              <a:t>accessibility.Optimize</a:t>
            </a:r>
            <a:r>
              <a:rPr lang="en-US" sz="2400" dirty="0"/>
              <a:t> and deploy the model on mobile/web platforms for real-time fashion content generation.</a:t>
            </a:r>
            <a:endParaRPr lang="en-US" altLang="en-US" sz="2400" dirty="0">
              <a:latin typeface="Arial" panose="020B0604020202020204" pitchFamily="34" charset="0"/>
            </a:endParaRPr>
          </a:p>
        </p:txBody>
      </p:sp>
    </p:spTree>
    <p:extLst>
      <p:ext uri="{BB962C8B-B14F-4D97-AF65-F5344CB8AC3E}">
        <p14:creationId xmlns:p14="http://schemas.microsoft.com/office/powerpoint/2010/main" val="1783655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2032"/>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26</a:t>
            </a:fld>
            <a:endParaRPr lang="en-IN"/>
          </a:p>
        </p:txBody>
      </p:sp>
      <p:sp>
        <p:nvSpPr>
          <p:cNvPr id="3" name="Rectangle 1">
            <a:extLst>
              <a:ext uri="{FF2B5EF4-FFF2-40B4-BE49-F238E27FC236}">
                <a16:creationId xmlns:a16="http://schemas.microsoft.com/office/drawing/2014/main" id="{F826C846-8D01-4520-6BEE-A92B6ACEEF1C}"/>
              </a:ext>
            </a:extLst>
          </p:cNvPr>
          <p:cNvSpPr>
            <a:spLocks noGrp="1" noChangeArrowheads="1"/>
          </p:cNvSpPr>
          <p:nvPr>
            <p:ph idx="1"/>
          </p:nvPr>
        </p:nvSpPr>
        <p:spPr bwMode="auto">
          <a:xfrm>
            <a:off x="368969" y="1705817"/>
            <a:ext cx="11149264"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IN" sz="1600" dirty="0"/>
              <a:t>[1] Z. Research, “Fashion-MNIST: Benchmark Dataset for Machine Learning,” </a:t>
            </a:r>
            <a:r>
              <a:rPr lang="en-IN" sz="1600" i="1" dirty="0" err="1"/>
              <a:t>arXiv</a:t>
            </a:r>
            <a:r>
              <a:rPr lang="en-IN" sz="1600" i="1" dirty="0"/>
              <a:t> preprint arXiv:1708.07747</a:t>
            </a:r>
            <a:r>
              <a:rPr lang="en-IN" sz="1600" dirty="0"/>
              <a:t>, 2017.</a:t>
            </a:r>
            <a:br>
              <a:rPr lang="en-IN" sz="1600" dirty="0"/>
            </a:br>
            <a:r>
              <a:rPr lang="en-IN" sz="1600" dirty="0"/>
              <a:t>[2] Z. Liu et al., “</a:t>
            </a:r>
            <a:r>
              <a:rPr lang="en-IN" sz="1600" dirty="0" err="1"/>
              <a:t>DeepFashion</a:t>
            </a:r>
            <a:r>
              <a:rPr lang="en-IN" sz="1600" dirty="0"/>
              <a:t>: Clothes Recognition and Retrieval,” </a:t>
            </a:r>
            <a:r>
              <a:rPr lang="en-IN" sz="1600" i="1" dirty="0"/>
              <a:t>CVPR</a:t>
            </a:r>
            <a:r>
              <a:rPr lang="en-IN" sz="1600" dirty="0"/>
              <a:t>, 2016.</a:t>
            </a:r>
            <a:br>
              <a:rPr lang="en-IN" sz="1600" dirty="0"/>
            </a:br>
            <a:r>
              <a:rPr lang="en-IN" sz="1600" dirty="0"/>
              <a:t>[3] H. Tan et al., “Captioning Fashion Images with Attention,” </a:t>
            </a:r>
            <a:r>
              <a:rPr lang="en-IN" sz="1600" i="1" dirty="0"/>
              <a:t>IEEE Access</a:t>
            </a:r>
            <a:r>
              <a:rPr lang="en-IN" sz="1600" dirty="0"/>
              <a:t>, 2020.</a:t>
            </a:r>
            <a:br>
              <a:rPr lang="en-IN" sz="1600" dirty="0"/>
            </a:br>
            <a:r>
              <a:rPr lang="en-IN" sz="1600" dirty="0"/>
              <a:t>[4] P. Wang et al., “Image Captioning with CNN-RNN Architecture,” </a:t>
            </a:r>
            <a:r>
              <a:rPr lang="en-IN" sz="1600" i="1" dirty="0"/>
              <a:t>Procedia Computer Science</a:t>
            </a:r>
            <a:r>
              <a:rPr lang="en-IN" sz="1600" dirty="0"/>
              <a:t>, 2019.</a:t>
            </a:r>
            <a:br>
              <a:rPr lang="en-IN" sz="1600" dirty="0"/>
            </a:br>
            <a:r>
              <a:rPr lang="en-IN" sz="1600" dirty="0"/>
              <a:t>[5] K. Xu et al., “Show, Attend and Tell,” </a:t>
            </a:r>
            <a:r>
              <a:rPr lang="en-IN" sz="1600" i="1" dirty="0"/>
              <a:t>ICML</a:t>
            </a:r>
            <a:r>
              <a:rPr lang="en-IN" sz="1600" dirty="0"/>
              <a:t>, 2015.</a:t>
            </a:r>
            <a:br>
              <a:rPr lang="en-IN" sz="1600" dirty="0"/>
            </a:br>
            <a:r>
              <a:rPr lang="en-IN" sz="1600" dirty="0"/>
              <a:t>[6] O. </a:t>
            </a:r>
            <a:r>
              <a:rPr lang="en-IN" sz="1600" dirty="0" err="1"/>
              <a:t>Vinyals</a:t>
            </a:r>
            <a:r>
              <a:rPr lang="en-IN" sz="1600" dirty="0"/>
              <a:t> et al., “Show and Tell: A Neural Image Caption Generator,” </a:t>
            </a:r>
            <a:r>
              <a:rPr lang="en-IN" sz="1600" i="1" dirty="0"/>
              <a:t>CVPR</a:t>
            </a:r>
            <a:r>
              <a:rPr lang="en-IN" sz="1600" dirty="0"/>
              <a:t>, 2015.</a:t>
            </a:r>
            <a:br>
              <a:rPr lang="en-IN" sz="1600" dirty="0"/>
            </a:br>
            <a:r>
              <a:rPr lang="en-IN" sz="1600" dirty="0"/>
              <a:t>[7] K. He et al., “Deep Residual Learning for Image Recognition,” </a:t>
            </a:r>
            <a:r>
              <a:rPr lang="en-IN" sz="1600" i="1" dirty="0"/>
              <a:t>CVPR</a:t>
            </a:r>
            <a:r>
              <a:rPr lang="en-IN" sz="1600" dirty="0"/>
              <a:t>, 2016.</a:t>
            </a:r>
            <a:br>
              <a:rPr lang="en-IN" sz="1600" dirty="0"/>
            </a:br>
            <a:r>
              <a:rPr lang="en-IN" sz="1600" dirty="0"/>
              <a:t>[8] K. Simonyan and A. Zisserman, “</a:t>
            </a:r>
            <a:r>
              <a:rPr lang="en-IN" sz="1600" dirty="0" err="1"/>
              <a:t>VGGNet</a:t>
            </a:r>
            <a:r>
              <a:rPr lang="en-IN" sz="1600" dirty="0"/>
              <a:t>: Deep Convolutional Networks,” </a:t>
            </a:r>
            <a:r>
              <a:rPr lang="en-IN" sz="1600" i="1" dirty="0"/>
              <a:t>arXiv:1409.1556</a:t>
            </a:r>
            <a:r>
              <a:rPr lang="en-IN" sz="1600" dirty="0"/>
              <a:t>, 2014.</a:t>
            </a:r>
            <a:br>
              <a:rPr lang="en-IN" sz="1600" dirty="0"/>
            </a:br>
            <a:r>
              <a:rPr lang="en-IN" sz="1600" dirty="0"/>
              <a:t>[9] X. Chen et al., “Microsoft COCO Captions,” </a:t>
            </a:r>
            <a:r>
              <a:rPr lang="en-IN" sz="1600" i="1" dirty="0"/>
              <a:t>CVPR</a:t>
            </a:r>
            <a:r>
              <a:rPr lang="en-IN" sz="1600" dirty="0"/>
              <a:t>, 2015.</a:t>
            </a:r>
            <a:br>
              <a:rPr lang="en-IN" sz="1600" dirty="0"/>
            </a:br>
            <a:r>
              <a:rPr lang="en-IN" sz="1600" dirty="0"/>
              <a:t>[10] H. Huang et al., “</a:t>
            </a:r>
            <a:r>
              <a:rPr lang="en-IN" sz="1600" dirty="0" err="1"/>
              <a:t>FashionGen</a:t>
            </a:r>
            <a:r>
              <a:rPr lang="en-IN" sz="1600" dirty="0"/>
              <a:t>: Generative Fashion Dataset,” </a:t>
            </a:r>
            <a:r>
              <a:rPr lang="en-IN" sz="1600" i="1" dirty="0"/>
              <a:t>FGVC Workshop at CVPR</a:t>
            </a:r>
            <a:r>
              <a:rPr lang="en-IN" sz="1600" dirty="0"/>
              <a:t>, 2018.</a:t>
            </a:r>
            <a:br>
              <a:rPr lang="en-IN" sz="1600" dirty="0"/>
            </a:br>
            <a:r>
              <a:rPr lang="en-IN" sz="1600" dirty="0"/>
              <a:t>[11] P. Aggarwal, “Fashion Product Images (Small),” </a:t>
            </a:r>
            <a:r>
              <a:rPr lang="en-IN" sz="1600" i="1" dirty="0"/>
              <a:t>Kaggle</a:t>
            </a:r>
            <a:r>
              <a:rPr lang="en-IN" sz="1600" dirty="0"/>
              <a:t>, 2018.</a:t>
            </a:r>
          </a:p>
          <a:p>
            <a:pPr marL="0" lvl="0" indent="0" eaLnBrk="0" fontAlgn="base" hangingPunct="0">
              <a:lnSpc>
                <a:spcPct val="100000"/>
              </a:lnSpc>
              <a:spcBef>
                <a:spcPct val="0"/>
              </a:spcBef>
              <a:spcAft>
                <a:spcPct val="0"/>
              </a:spcAft>
              <a:buNone/>
            </a:pPr>
            <a:r>
              <a:rPr lang="en-IN" sz="1600" dirty="0"/>
              <a:t>[12] S. Moturi et al., “Hybrid Binary Dragonfly Algorithm with Grey Wolf Optimization,” </a:t>
            </a:r>
            <a:r>
              <a:rPr lang="en-IN" sz="1600" i="1" dirty="0"/>
              <a:t>ICICC</a:t>
            </a:r>
            <a:r>
              <a:rPr lang="en-IN" sz="1600" dirty="0"/>
              <a:t>, Springer, 2023.</a:t>
            </a:r>
            <a:br>
              <a:rPr lang="en-IN" sz="1600" dirty="0"/>
            </a:br>
            <a:r>
              <a:rPr lang="en-IN" sz="1600" dirty="0"/>
              <a:t>[13] A. Anjali and R. Suresh, “Modern Ensemble Approaches in Aquatic Prediction,” </a:t>
            </a:r>
            <a:r>
              <a:rPr lang="en-IN" sz="1600" i="1" dirty="0"/>
              <a:t>IEEE Water Intelligence Symp.</a:t>
            </a:r>
            <a:r>
              <a:rPr lang="en-IN" sz="1600" dirty="0"/>
              <a:t>, 2021.</a:t>
            </a:r>
            <a:br>
              <a:rPr lang="en-IN" sz="1600" dirty="0"/>
            </a:br>
            <a:r>
              <a:rPr lang="en-IN" sz="1600" dirty="0"/>
              <a:t>[14] S. Sharma et al., “Transformer-Based Meta Ensembles for WQI Prediction,” </a:t>
            </a:r>
            <a:r>
              <a:rPr lang="en-IN" sz="1600" i="1" dirty="0"/>
              <a:t>IEEE Trans. Environ. </a:t>
            </a:r>
            <a:r>
              <a:rPr lang="en-IN" sz="1600" i="1" dirty="0" err="1"/>
              <a:t>Intell</a:t>
            </a:r>
            <a:r>
              <a:rPr lang="en-IN" sz="1600" i="1" dirty="0"/>
              <a:t>.</a:t>
            </a:r>
            <a:r>
              <a:rPr lang="en-IN" sz="1600" dirty="0"/>
              <a:t>, 2025.</a:t>
            </a:r>
            <a:br>
              <a:rPr lang="en-IN" sz="1600" dirty="0"/>
            </a:br>
            <a:r>
              <a:rPr lang="en-IN" sz="1600" dirty="0"/>
              <a:t>[15] S. Rao et al., “Advanced Water Quality Prediction Using Genetic Optimization,” </a:t>
            </a:r>
            <a:r>
              <a:rPr lang="en-IN" sz="1600" i="1" dirty="0"/>
              <a:t>IATMSI</a:t>
            </a:r>
            <a:r>
              <a:rPr lang="en-IN" sz="1600" dirty="0"/>
              <a:t>, 2025.</a:t>
            </a:r>
            <a:br>
              <a:rPr lang="en-IN" sz="1600" dirty="0"/>
            </a:br>
            <a:r>
              <a:rPr lang="en-IN" sz="1600" dirty="0"/>
              <a:t>[16] S. Rizwana et al., “Enhancing Wine Quality Prediction Using ML Techniques,” </a:t>
            </a:r>
            <a:r>
              <a:rPr lang="en-IN" sz="1600" i="1" dirty="0"/>
              <a:t>IATMSI</a:t>
            </a:r>
            <a:r>
              <a:rPr lang="en-IN" sz="1600" dirty="0"/>
              <a:t>, 2025.</a:t>
            </a:r>
            <a:endParaRPr kumimoji="0" lang="en-US" altLang="en-US" sz="15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1012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rPr>
              <a:t>            ACKNOWLEDGEMENTS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8565" y="1573306"/>
            <a:ext cx="11066929" cy="4783044"/>
          </a:xfrm>
        </p:spPr>
        <p:txBody>
          <a:bodyPr>
            <a:noAutofit/>
          </a:bodyPr>
          <a:lstStyle/>
          <a:p>
            <a:r>
              <a:rPr lang="en-US" sz="2000" dirty="0">
                <a:latin typeface="Times New Roman" panose="02020603050405020304" pitchFamily="18" charset="0"/>
                <a:cs typeface="Times New Roman" panose="02020603050405020304" pitchFamily="18" charset="0"/>
              </a:rPr>
              <a:t>We would like to express our sincere gratitude to the faculty and staff of Narasaraopeta Engineering College for their guidance and encouragement throughout the development of this project. Their insights and expertise have been invaluable.</a:t>
            </a:r>
          </a:p>
          <a:p>
            <a:r>
              <a:rPr lang="en-US" sz="20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r>
              <a:rPr lang="en-US" sz="2000" dirty="0">
                <a:latin typeface="Times New Roman" panose="02020603050405020304" pitchFamily="18" charset="0"/>
                <a:cs typeface="Times New Roman" panose="02020603050405020304" pitchFamily="18" charset="0"/>
              </a:rPr>
              <a:t>For any questions or further discussions, feel free to reach out:-</a:t>
            </a:r>
          </a:p>
          <a:p>
            <a:pPr marL="0" indent="0">
              <a:buNone/>
            </a:pPr>
            <a:r>
              <a:rPr lang="en-US" sz="2000" dirty="0">
                <a:latin typeface="Times New Roman" panose="02020603050405020304" pitchFamily="18" charset="0"/>
                <a:cs typeface="Times New Roman" panose="02020603050405020304" pitchFamily="18" charset="0"/>
              </a:rPr>
              <a:t>Team No:BB10</a:t>
            </a:r>
          </a:p>
          <a:p>
            <a:pPr marL="0" indent="0">
              <a:buNone/>
            </a:pPr>
            <a:r>
              <a:rPr lang="en-US" sz="2000" dirty="0">
                <a:latin typeface="Times New Roman" panose="02020603050405020304" pitchFamily="18" charset="0"/>
                <a:cs typeface="Times New Roman" panose="02020603050405020304" pitchFamily="18" charset="0"/>
              </a:rPr>
              <a:t>Guide: </a:t>
            </a:r>
            <a:r>
              <a:rPr lang="en-US" sz="2000" dirty="0" err="1">
                <a:latin typeface="Times New Roman" panose="02020603050405020304" pitchFamily="18" charset="0"/>
                <a:cs typeface="Times New Roman" panose="02020603050405020304" pitchFamily="18" charset="0"/>
              </a:rPr>
              <a:t>Dr.S.N.Tirumala</a:t>
            </a:r>
            <a:r>
              <a:rPr lang="en-US" sz="2000" dirty="0">
                <a:latin typeface="Times New Roman" panose="02020603050405020304" pitchFamily="18" charset="0"/>
                <a:cs typeface="Times New Roman" panose="02020603050405020304" pitchFamily="18" charset="0"/>
              </a:rPr>
              <a:t> Rao</a:t>
            </a:r>
          </a:p>
          <a:p>
            <a:pPr marL="0" indent="0">
              <a:buNone/>
            </a:pPr>
            <a:r>
              <a:rPr lang="en-US" sz="2000" dirty="0">
                <a:latin typeface="Times New Roman" panose="02020603050405020304" pitchFamily="18" charset="0"/>
                <a:cs typeface="Times New Roman" panose="02020603050405020304" pitchFamily="18" charset="0"/>
              </a:rPr>
              <a:t>Roll No’s: 22471A05A0</a:t>
            </a:r>
          </a:p>
          <a:p>
            <a:pPr marL="0" indent="0">
              <a:buNone/>
            </a:pPr>
            <a:r>
              <a:rPr lang="en-US" sz="2000" dirty="0">
                <a:latin typeface="Times New Roman" panose="02020603050405020304" pitchFamily="18" charset="0"/>
                <a:cs typeface="Times New Roman" panose="02020603050405020304" pitchFamily="18" charset="0"/>
              </a:rPr>
              <a:t>                  22471A05B1</a:t>
            </a:r>
          </a:p>
          <a:p>
            <a:pPr marL="0" indent="0">
              <a:buNone/>
            </a:pPr>
            <a:r>
              <a:rPr lang="en-US" sz="2000" dirty="0">
                <a:latin typeface="Times New Roman" panose="02020603050405020304" pitchFamily="18" charset="0"/>
                <a:cs typeface="Times New Roman" panose="02020603050405020304" pitchFamily="18" charset="0"/>
              </a:rPr>
              <a:t>                  22471A05B8</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Thank You</a:t>
            </a:r>
          </a:p>
          <a:p>
            <a:pPr marL="0" indent="0">
              <a:buNone/>
            </a:pPr>
            <a:r>
              <a:rPr lang="en-US" sz="2300" dirty="0">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r>
              <a:rPr lang="en-US" dirty="0"/>
              <a:t>11-11-2025</a:t>
            </a:r>
            <a:endParaRPr lang="en-IN" dirty="0"/>
          </a:p>
        </p:txBody>
      </p:sp>
      <p:sp>
        <p:nvSpPr>
          <p:cNvPr id="5" name="Footer Placeholder 4"/>
          <p:cNvSpPr>
            <a:spLocks noGrp="1"/>
          </p:cNvSpPr>
          <p:nvPr>
            <p:ph type="ftr" sz="quarter" idx="11"/>
          </p:nvPr>
        </p:nvSpPr>
        <p:spPr/>
        <p:txBody>
          <a:bodyPr/>
          <a:lstStyle/>
          <a:p>
            <a:r>
              <a:rPr lang="en-US" dirty="0"/>
              <a:t>Review No. 01         Batch No.  BB10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27</a:t>
            </a:fld>
            <a:endParaRPr lang="en-IN"/>
          </a:p>
        </p:txBody>
      </p:sp>
    </p:spTree>
    <p:extLst>
      <p:ext uri="{BB962C8B-B14F-4D97-AF65-F5344CB8AC3E}">
        <p14:creationId xmlns:p14="http://schemas.microsoft.com/office/powerpoint/2010/main" val="3460599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11-11-2025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a:t>
            </a:r>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B10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28</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40E4EB-4ECD-17B6-333E-19F5E4D33A37}"/>
              </a:ext>
            </a:extLst>
          </p:cNvPr>
          <p:cNvPicPr>
            <a:picLocks noChangeAspect="1"/>
          </p:cNvPicPr>
          <p:nvPr/>
        </p:nvPicPr>
        <p:blipFill>
          <a:blip r:embed="rId2"/>
          <a:stretch>
            <a:fillRect/>
          </a:stretch>
        </p:blipFill>
        <p:spPr>
          <a:xfrm>
            <a:off x="2980890" y="1447523"/>
            <a:ext cx="6230219" cy="3962953"/>
          </a:xfrm>
          <a:prstGeom prst="rect">
            <a:avLst/>
          </a:prstGeom>
        </p:spPr>
      </p:pic>
    </p:spTree>
    <p:extLst>
      <p:ext uri="{BB962C8B-B14F-4D97-AF65-F5344CB8AC3E}">
        <p14:creationId xmlns:p14="http://schemas.microsoft.com/office/powerpoint/2010/main" val="1004913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3629</TotalTime>
  <Words>2429</Words>
  <Application>Microsoft Office PowerPoint</Application>
  <PresentationFormat>Widescreen</PresentationFormat>
  <Paragraphs>290</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Times New Roman</vt:lpstr>
      <vt:lpstr>Wingdings</vt:lpstr>
      <vt:lpstr>Office Theme</vt:lpstr>
      <vt:lpstr>PowerPoint Presentation</vt:lpstr>
      <vt:lpstr>OUTLINE</vt:lpstr>
      <vt:lpstr>ABSTRACT</vt:lpstr>
      <vt:lpstr>INTRODUCTION</vt:lpstr>
      <vt:lpstr>LITERATURE SURVEY</vt:lpstr>
      <vt:lpstr>LITERATURE SURVEY</vt:lpstr>
      <vt:lpstr>RESEARCH GAPS</vt:lpstr>
      <vt:lpstr>PROBLEM STATEMENT</vt:lpstr>
      <vt:lpstr>OBJECTIVES</vt:lpstr>
      <vt:lpstr>BLOCK DIAGRAM OR FLOW DIAGRAM</vt:lpstr>
      <vt:lpstr>METHODOLOGY</vt:lpstr>
      <vt:lpstr>PowerPoint Presentation</vt:lpstr>
      <vt:lpstr>METHODOLOGY</vt:lpstr>
      <vt:lpstr>                             Framework Used: ConvNeXt–LSTM</vt:lpstr>
      <vt:lpstr>Implementation</vt:lpstr>
      <vt:lpstr>System Requirements</vt:lpstr>
      <vt:lpstr>Challenges  Vs Overcomes</vt:lpstr>
      <vt:lpstr>PowerPoint Presentation</vt:lpstr>
      <vt:lpstr>Implementation of Frontend</vt:lpstr>
      <vt:lpstr>PowerPoint Presentation</vt:lpstr>
      <vt:lpstr>PowerPoint Presentation</vt:lpstr>
      <vt:lpstr>PowerPoint Presentation</vt:lpstr>
      <vt:lpstr>              RESULTS &amp; ANALYSIS</vt:lpstr>
      <vt:lpstr>RESULTS &amp; ANALYSIS</vt:lpstr>
      <vt:lpstr>CONCLUSION &amp; FUTURE SCOPE</vt:lpstr>
      <vt:lpstr>REFERENCES</vt:lpstr>
      <vt:lpstr>            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Udaykiran Peddipaka</cp:lastModifiedBy>
  <cp:revision>137</cp:revision>
  <dcterms:created xsi:type="dcterms:W3CDTF">2023-12-22T11:34:02Z</dcterms:created>
  <dcterms:modified xsi:type="dcterms:W3CDTF">2025-11-11T04:28:57Z</dcterms:modified>
</cp:coreProperties>
</file>